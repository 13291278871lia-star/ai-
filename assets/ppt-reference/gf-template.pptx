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56" r:id="rId3"/>
    <p:sldId id="272" r:id="rId4"/>
    <p:sldId id="259" r:id="rId5"/>
    <p:sldId id="276" r:id="rId6"/>
    <p:sldId id="286" r:id="rId7"/>
    <p:sldId id="258" r:id="rId8"/>
    <p:sldId id="293" r:id="rId9"/>
    <p:sldId id="294" r:id="rId10"/>
    <p:sldId id="295" r:id="rId11"/>
    <p:sldId id="262" r:id="rId12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CFE6"/>
    <a:srgbClr val="E9CCD5"/>
    <a:srgbClr val="685D5C"/>
    <a:srgbClr val="DAD7E4"/>
    <a:srgbClr val="FCE2E0"/>
    <a:srgbClr val="D30E45"/>
    <a:srgbClr val="F04618"/>
    <a:srgbClr val="696AAF"/>
    <a:srgbClr val="E7E5ED"/>
    <a:srgbClr val="33B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97" d="100"/>
          <a:sy n="97" d="100"/>
        </p:scale>
        <p:origin x="7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2:37:03.7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1034 24575,'3'0'0,"1"1"0,-1-1 0,0 1 0,0 0 0,1 0 0,-1 0 0,0 0 0,0 0 0,3 3 0,20 6 0,-25-10 0,0 0 0,-1 0 0,1-1 0,0 1 0,0 0 0,-1 0 0,1 0 0,0-1 0,0 1 0,-1 0 0,1-1 0,0 1 0,-1-1 0,1 1 0,-1-1 0,1 1 0,0-1 0,-1 1 0,1-1 0,-1 0 0,1 1 0,-1-1 0,0 0 0,1 1 0,-1-1 0,0 0 0,1 0 0,-1 1 0,0-1 0,0-1 0,7-31 0,-5 24 0,12-68 0,4 2 0,3 0 0,3 2 0,46-96 0,-37 104 0,73-103 0,-75 127 0,1 2 0,2 1 0,50-44 0,-75 74 0,0 0 0,1 1 0,17-10 0,-25 16 0,1-1 0,-1 1 0,1 0 0,-1 0 0,1 1 0,-1-1 0,1 0 0,-1 1 0,1 0 0,0 0 0,-1-1 0,1 2 0,0-1 0,-1 0 0,1 0 0,-1 1 0,1-1 0,0 1 0,-1 0 0,1 0 0,3 2 0,2 2 0,0 1 0,0 0 0,-1 1 0,0-1 0,0 1 0,-1 1 0,1-1 0,-1 1 0,-1 0 0,0 0 0,0 1 0,-1 0 0,0 0 0,0 0 0,3 15 0,-1-1 0,-1 0 0,-1 0 0,-2 1 0,0-1 0,-2 32 0,-1-30 0,-1 0 0,-1 0 0,-1 0 0,-1 0 0,-1-1 0,-2 0 0,0 0 0,-1-1 0,-2 0 0,-14 23 0,24-45 0,-2 5 0,-1-1 0,0 0 0,0 0 0,-6 6 0,10-11 0,-1 1 0,0 0 0,1-1 0,-1 1 0,0-1 0,1 1 0,-1-1 0,0 1 0,0-1 0,0 1 0,0-1 0,1 0 0,-1 1 0,0-1 0,0 0 0,0 0 0,0 0 0,0 0 0,0 0 0,0 0 0,0 0 0,0 0 0,0 0 0,1 0 0,-1 0 0,0 0 0,0-1 0,0 1 0,0 0 0,0-1 0,1 1 0,-1-1 0,0 1 0,0-1 0,0 1 0,1-1 0,-1 1 0,0-2 0,-3-4 0,1 1 0,0-1 0,0 0 0,1 0 0,-1 0 0,1 0 0,1-1 0,-1 1 0,1-1 0,0 1 0,1-1 0,0-6 0,-1-15 0,2-1 0,1 1 0,1 0 0,2 0 0,15-54 0,-1 25 0,47-96 0,-61 140 0,1 1 0,1 0 0,0 0 0,1 1 0,0 0 0,10-11 0,-17 21 0,0 0 0,0-1 0,1 1 0,-1 0 0,0 0 0,0 0 0,1 0 0,-1 1 0,0-1 0,1 0 0,-1 1 0,1-1 0,-1 0 0,0 1 0,1 0 0,0-1 0,-1 1 0,1 0 0,-1 0 0,1 0 0,-1 0 0,1 0 0,-1 0 0,1 0 0,0 0 0,-1 1 0,1-1 0,-1 1 0,1-1 0,-1 1 0,0 0 0,1-1 0,-1 1 0,0 0 0,1 0 0,-1 0 0,0 0 0,0 0 0,0 0 0,2 2 0,1 2 0,-1 0 0,1 1 0,-1 0 0,0 0 0,0 0 0,0 0 0,-1 0 0,2 10 0,0 0 0,-2 0 0,0 0 0,0 0 0,-2 1 0,0-1 0,-1 0 0,0 0 0,-1 0 0,-5 19 0,0-14 0,0 1 0,-1-1 0,-1-1 0,-1 1 0,0-1 0,-16 20 0,7-14 0,-2 0 0,-1-1 0,-1-1 0,-1-1 0,0-2 0,-2 0 0,-1-1 0,0-2 0,-33 16 0,57-32 0,-18 9 0,-1-1 0,-43 14 0,60-22 0,0-1 0,0 0 0,1 0 0,-1 0 0,0 0 0,0-1 0,0 0 0,0 0 0,0 0 0,0-1 0,0 1 0,0-1 0,0-1 0,0 1 0,1 0 0,-1-1 0,0 0 0,1 0 0,0-1 0,-7-4 0,5 2 0,0-1 0,1-1 0,0 1 0,0-1 0,1 0 0,-1 0 0,1 0 0,1-1 0,-6-15 0,1-5 0,-8-41 0,16 67 0,-7-33 0,2-1 0,2 0 0,1 0 0,1 0 0,3 0 0,0 0 0,13-56 0,-13 84 0,0 0 0,1 0 0,0 0 0,0 1 0,1-1 0,0 1 0,0 0 0,9-11 0,-12 16 0,1 1 0,-1-1 0,1 1 0,0 0 0,-1-1 0,1 1 0,0 0 0,0 0 0,0 0 0,0 0 0,0 0 0,0 0 0,0 1 0,0-1 0,0 1 0,0 0 0,0-1 0,0 1 0,0 0 0,0 0 0,1 0 0,-1 0 0,0 1 0,0-1 0,0 1 0,0-1 0,0 1 0,0 0 0,0-1 0,0 1 0,0 0 0,0 0 0,-1 1 0,1-1 0,0 0 0,-1 0 0,3 3 0,5 4 0,0 1 0,-1 0 0,0 1 0,0-1 0,-1 1 0,0 1 0,-1-1 0,0 1 0,-1 0 0,8 24 0,-7-16 0,-1 1 0,-1 0 0,-1 0 0,-1 0 0,0 38 0,-2-47 0,-1 1 0,-1 0 0,0-1 0,0 0 0,-1 1 0,-1-1 0,-7 16 0,9-23 0,1 0 0,-1-1 0,0 1 0,0-1 0,-1 0 0,1 0 0,-1 0 0,1 0 0,-1 0 0,0 0 0,0-1 0,0 1 0,-1-1 0,1 0 0,-1 0 0,1 0 0,-1 0 0,1-1 0,-1 1 0,0-1 0,0 0 0,0 0 0,0-1 0,0 1 0,-4-1 0,4 0 0,1-1 0,0 0 0,0 1 0,0-1 0,0-1 0,0 1 0,0 0 0,0-1 0,0 1 0,0-1 0,1 0 0,-1 0 0,1 0 0,-1-1 0,1 1 0,0 0 0,0-1 0,0 0 0,-3-4 0,-4-7 0,1-1 0,-11-25 0,17 35 0,-15-36 0,2 0 0,-16-76 0,26 91 0,1 0 0,1-1 0,1 0 0,1 1 0,6-49 0,-4 70 0,-1 0 0,1 1 0,1-1 0,-1 1 0,0 0 0,1-1 0,0 1 0,0 0 0,5-7 0,-6 10 0,0 0 0,0 0 0,0 0 0,0 0 0,0 0 0,0 1 0,0-1 0,1 0 0,-1 1 0,0-1 0,0 1 0,1-1 0,-1 1 0,0 0 0,1-1 0,-1 1 0,0 0 0,1 0 0,-1 0 0,0 0 0,1 0 0,-1 0 0,0 0 0,1 1 0,-1-1 0,0 0 0,1 1 0,-1-1 0,0 1 0,0-1 0,0 1 0,1 0 0,-1 0 0,0-1 0,0 1 0,1 1 0,5 4 0,0 0 0,0 0 0,-1 1 0,1 0 0,-2 0 0,1 0 0,-1 1 0,6 10 0,29 71 0,-23-43 0,18 69 0,-31-95 0,0 1 0,-1 1 0,-1-1 0,0 0 0,-4 41 0,1-56 0,0 1 0,0-1 0,-1 0 0,-3 9 0,5-14 0,0 0 0,-1 0 0,1 0 0,0-1 0,-1 1 0,1 0 0,-1 0 0,1 0 0,-1-1 0,1 1 0,-1 0 0,0 0 0,1-1 0,-1 1 0,0-1 0,0 1 0,0 0 0,1-1 0,-1 0 0,0 1 0,0-1 0,0 1 0,0-1 0,0 0 0,0 0 0,0 0 0,0 1 0,0-1 0,0 0 0,1 0 0,-1 0 0,0 0 0,0 0 0,0-1 0,0 1 0,0 0 0,-1-1 0,-2-1 0,0 0 0,1 0 0,-1-1 0,0 1 0,1-1 0,0 0 0,0 0 0,0 0 0,0-1 0,0 1 0,1-1 0,-1 0 0,1 1 0,-3-9 0,-1-1 0,1 0 0,1 0 0,-5-21 0,6 17 0,2 0 0,0-1 0,1 1 0,0 0 0,1 0 0,1 0 0,1 0 0,1 0 0,0 1 0,1-1 0,1 1 0,0 0 0,1 0 0,14-22 0,-14 25 0,1 1 0,1 0 0,0 0 0,1 1 0,0 0 0,0 0 0,1 1 0,1 1 0,-1 0 0,2 0 0,-1 1 0,1 1 0,0 0 0,1 1 0,0 0 0,-1 1 0,18-3 0,-25 6 0,1 1 0,-1 1 0,0-1 0,1 1 0,-1 0 0,1 1 0,-1 0 0,0 0 0,0 0 0,1 0 0,-1 1 0,0 0 0,5 3 0,-3-1 0,-1 0 0,-1 1 0,1 0 0,0 0 0,-1 0 0,0 1 0,-1 0 0,11 12 0,-3 3 0,0 1 0,-2 0 0,0 0 0,-2 1 0,12 39 0,-9-19 0,-1 0 0,-2 2 0,-3-1 0,2 50 0,-7-72 0,-1 0 0,-1 0 0,-1 0 0,-1 0 0,-1 0 0,-1 0 0,-1-1 0,-1 0 0,-1 0 0,-13 25 0,18-40 0,-1 0 0,0 0 0,0-1 0,0 0 0,-7 7 0,11-12 0,-1 1 0,0 0 0,0 0 0,0 0 0,1-1 0,-1 1 0,0 0 0,0-1 0,0 1 0,0-1 0,0 1 0,0-1 0,-1 0 0,1 1 0,0-1 0,0 0 0,0 0 0,0 1 0,0-1 0,-1 0 0,1 0 0,0-1 0,0 1 0,0 0 0,0 0 0,0 0 0,0-1 0,0 1 0,-1-1 0,1 1 0,0-1 0,0 1 0,0-1 0,0 1 0,1-1 0,-1 0 0,-2-1 0,-2-5 0,0 0 0,0 0 0,0 0 0,1-1 0,0 0 0,0 0 0,1 0 0,-4-13 0,-12-73 0,14 59 0,2-1 0,0-39 0,3 60 0,1 1 0,1 0 0,0 0 0,1 0 0,0 0 0,1 0 0,0 1 0,9-18 0,-12 29 0,0 0 0,0 0 0,0 0 0,0 0 0,0 1 0,0-1 0,1 0 0,-1 1 0,1-1 0,-1 0 0,1 1 0,-1 0 0,1-1 0,0 1 0,0 0 0,0 0 0,-1 0 0,1 0 0,0 0 0,0 1 0,1-1 0,-1 0 0,0 1 0,0 0 0,0-1 0,0 1 0,0 0 0,0 0 0,1 0 0,-1 1 0,0-1 0,0 0 0,0 1 0,0-1 0,0 1 0,0 0 0,0 0 0,0 0 0,0 0 0,0 0 0,0 0 0,-1 0 0,1 1 0,2 1 0,6 6 0,0 1 0,0-1 0,-1 2 0,-1-1 0,0 1 0,0 1 0,-1 0 0,0 0 0,6 18 0,-2-2 0,-1 0 0,-2 1 0,7 36 0,-12-46 0,0 0 0,-1 29 0,-1-43 0,-1 0 0,-1 0 0,1-1 0,-1 1 0,0 0 0,0 0 0,0 0 0,-1-1 0,1 1 0,-1-1 0,0 1 0,-1-1 0,1 1 0,-1-1 0,-4 5 0,7-9 0,-1 1 0,0-1 0,1 1 0,-1-1 0,0 1 0,0-1 0,0 1 0,1-1 0,-1 0 0,0 1 0,0-1 0,0 0 0,0 0 0,0 1 0,0-1 0,0 0 0,1 0 0,-1 0 0,0 0 0,0 0 0,0-1 0,0 1 0,0 0 0,0 0 0,0 0 0,0-1 0,1 1 0,-1-1 0,0 1 0,0 0 0,0-1 0,1 1 0,-1-1 0,0 0 0,1 1 0,-2-2 0,-2-2 0,0 0 0,0 0 0,1-1 0,-6-8 0,-1-6 0,0 0 0,1 0 0,1-1 0,-10-38 0,-10-88 0,25 127 0,1-1 0,0 0 0,3-33 0,-1 51 0,0 0 0,0-1 0,1 1 0,-1 0 0,1 0 0,-1 0 0,1 0 0,0 0 0,0 0 0,0 0 0,0 0 0,0 0 0,3-3 0,-3 4 0,0 1 0,-1-1 0,1 1 0,0 0 0,0-1 0,0 1 0,0 0 0,0 0 0,0-1 0,0 1 0,0 0 0,0 0 0,0 0 0,0 0 0,0 0 0,0 0 0,0 1 0,0-1 0,0 0 0,0 0 0,0 1 0,0-1 0,0 1 0,-1-1 0,1 0 0,0 1 0,0 0 0,0-1 0,-1 1 0,2 1 0,16 14 0,-1 0 0,-1 1 0,0 1 0,-2 1 0,16 25 0,-24-36 0,2 4 0,-1 1 0,0-1 0,-1 1 0,0 1 0,-1-1 0,-1 1 0,0-1 0,-1 1 0,0 0 0,-1 1 0,0-1 0,-2 0 0,1 1 0,-2-1 0,-3 25 0,3-35 0,0-1 0,0 0 0,0 1 0,0-1 0,0 0 0,-1 0 0,1 0 0,-4 4 0,5-6 0,-1-1 0,1 1 0,-1 0 0,1-1 0,-1 1 0,0-1 0,1 1 0,-1-1 0,0 0 0,1 1 0,-1-1 0,0 0 0,0 1 0,1-1 0,-1 0 0,0 0 0,0 1 0,0-1 0,1 0 0,-1 0 0,0 0 0,0 0 0,0 0 0,1 0 0,-1-1 0,0 1 0,0 0 0,0 0 0,1 0 0,-1-1 0,0 1 0,0 0 0,1-1 0,-1 1 0,0-1 0,1 1 0,-1-1 0,0 1 0,0-2 0,-7-5 0,1 0 0,0-1 0,0 0 0,1 0 0,-8-13 0,-26-52 0,27 47 0,0 2 0,2 6 0,1-1 0,1 0 0,-12-38 0,20 52 0,0 1 0,0-1 0,0 1 0,0-1 0,1 0 0,0 1 0,0-1 0,0 0 0,0 1 0,1-1 0,0 1 0,0-1 0,0 1 0,1-1 0,-1 1 0,1 0 0,0-1 0,0 1 0,0 0 0,1 0 0,0 0 0,-1 1 0,5-5 0,-5 7 0,-1-1 0,0 1 0,0 0 0,1 0 0,-1 0 0,0 0 0,1 0 0,-1 0 0,1 0 0,0 1 0,-1-1 0,1 1 0,0-1 0,-1 1 0,1-1 0,0 1 0,-1 0 0,1 0 0,0 0 0,0 0 0,-1 0 0,1 0 0,0 0 0,-1 1 0,1-1 0,0 0 0,-1 1 0,1 0 0,0-1 0,1 2 0,3 2 0,-1 0 0,1 0 0,-1 1 0,0-1 0,8 12 0,-11-21 0,3-13 0,0 1 0,8-17 0,-10 30 0,0 0 0,0 0 0,0 0 0,1 1 0,0-1 0,-1 1 0,1 0 0,1 0 0,-1 0 0,0 0 0,8-3 0,7-2 0,30-9 0,-38 13 0,-2 1 0,0 1 0,0 0 0,0 0 0,0 1 0,0 0 0,17 0 0,-21 2 0,0-1 0,0 1 0,0 0 0,0 1 0,0-1 0,0 1 0,0 0 0,-1 0 0,1 0 0,0 1 0,-1 0 0,0 0 0,6 5 0,8 8 0,-2 1 0,0 0 0,25 37 0,-36-46 0,0 0 0,0 0 0,-1 1 0,0 0 0,0 0 0,-1 0 0,0 1 0,-1-1 0,0 0 0,0 1 0,-1 0 0,0 11 0,-2-15 0,1-1 0,-1 1 0,-1 0 0,1 0 0,-1-1 0,0 1 0,-1-1 0,1 0 0,-1 1 0,0-1 0,0 0 0,-6 6 0,-5 5 0,-1 0 0,-19 15 0,19-19 0,2 1 0,-22 25 0,28-27 0,0 0 0,-6 14 0,-7 13 0,-4-4 0,-2-2 0,-36 36 0,29-32 0,-29 40 0,45-54 0,7-9 0,1 1 0,0-1 0,-8 18 0,9-17 0,0 0 0,0-1 0,-1 1 0,-1-2 0,0 0 0,-20 19 0,-77 57 0,106-87 0,-17 12 0,-1 0 0,-1-1 0,0-1 0,0 0 0,-1-2 0,-31 9 0,25-9 0,-7 2 0,-50 10 0,63-17 0,0 2 0,-25 10 0,28-9 0,0-1 0,0-1 0,-24 4 0,40-9 0,0 1 0,0-1 0,0 0 0,0 0 0,0 0 0,0 0 0,0 0 0,1 0 0,-1-1 0,0 1 0,0-1 0,0 1 0,0-1 0,0 0 0,1 1 0,-1-1 0,0 0 0,1 0 0,-1 0 0,-2-3 0,3 2 0,-1 0 0,1 0 0,0 0 0,0 0 0,0 0 0,0 0 0,1 0 0,-1 0 0,1-1 0,-1 1 0,1 0 0,0 0 0,0-1 0,0-3 0,1-8 0,2 0 0,-1 1 0,2 0 0,7-21 0,-10 32 0,67-195 0,81-224 0,-107 325 0,-42 95 0,1 0 0,-1 1 0,0-1 0,0 0 0,1 0 0,-1 1 0,1-1 0,-1 0 0,1 1 0,-1-1 0,1 1 0,-1-1 0,1 0 0,-1 1 0,1-1 0,0 1 0,-1 0 0,1-1 0,0 1 0,1-1 0,-2 1 0,1 0 0,0 0 0,-1 0 0,1 0 0,-1 0 0,1 0 0,0 1 0,-1-1 0,1 0 0,-1 0 0,1 1 0,0-1 0,-1 0 0,1 1 0,-1-1 0,1 0 0,-1 1 0,1-1 0,0 2 0,2 1 0,-1 1 0,1-1 0,-1 1 0,0 0 0,0 0 0,2 5 0,0 6 0,0 0 0,-1 0 0,0 1 0,-1-1 0,-1 1 0,0 0 0,-2 0 0,0-1 0,0 1 0,-5 20 0,-6 16 0,-31 81 0,36-111 0,-4 10 0,-1-1 0,-1-1 0,-18 30 0,31-59 0,-1 0 0,1 0 0,-1 0 0,0 0 0,1 0 0,-1 0 0,0 0 0,0 0 0,1 0 0,-1 0 0,0-1 0,0 1 0,0 0 0,0-1 0,0 1 0,0-1 0,0 1 0,-2 0 0,3-1 0,-1 0 0,0-1 0,1 1 0,-1 0 0,1 0 0,-1-1 0,1 1 0,0 0 0,-1-1 0,1 1 0,-1 0 0,1-1 0,-1 1 0,1 0 0,0-1 0,-1 1 0,1-1 0,0 1 0,0-1 0,-1 1 0,1-1 0,0 1 0,0-1 0,0 1 0,-1-1 0,1 0 0,-1-5 0,0 0 0,0 0 0,0-1 0,1 1 0,0-10 0,3-3 0,0 0 0,1 0 0,1 0 0,1 1 0,1 0 0,0 0 0,1 0 0,1 1 0,1 0 0,1 1 0,0 0 0,1 1 0,0 0 0,1 1 0,1 0 0,0 1 0,1 0 0,1 2 0,26-17 0,-38 26 0,-1 0 0,1 1 0,0-1 0,-1 1 0,1 0 0,0 0 0,0 0 0,6-1 0,-9 2 0,0 1 0,1-1 0,-1 0 0,0 0 0,1 0 0,-1 1 0,0-1 0,0 1 0,1-1 0,-1 1 0,0-1 0,0 1 0,0 0 0,0 0 0,0-1 0,0 1 0,0 0 0,0 0 0,0 0 0,0 0 0,0 0 0,0 0 0,-1 1 0,1-1 0,0 0 0,-1 0 0,1 0 0,0 2 0,2 7 0,-1 1 0,0-1 0,0 1 0,-1-1 0,0 1 0,0 0 0,-2-1 0,-1 20 0,-20 85 0,21-111 0,-39 138 0,34-125 0,-1 0 0,0-1 0,-1 0 0,-1 0 0,-1-1 0,-12 17 0,21-31 0,0 0 0,-1 1 0,1-1 0,0 0 0,0 0 0,-1 1 0,1-1 0,0 0 0,-1-1 0,1 1 0,-1 0 0,0 0 0,1-1 0,-4 2 0,4-2 0,0 0 0,1 0 0,-1 0 0,0 0 0,0 0 0,1-1 0,-1 1 0,0 0 0,0 0 0,1-1 0,-1 1 0,0 0 0,0-1 0,1 1 0,-1-1 0,1 1 0,-1-1 0,0 1 0,1-1 0,-1 1 0,1-1 0,-2-1 0,0-2 0,0 0 0,0-1 0,0 1 0,1-1 0,-1 1 0,1-1 0,0 0 0,1 0 0,-1-6 0,1-9 0,0 1 0,2 0 0,0-1 0,1 1 0,1 0 0,1 1 0,1-1 0,0 1 0,2 0 0,0 0 0,1 1 0,15-24 0,-5 14 0,0 1 0,2 1 0,0 1 0,2 0 0,1 2 0,43-32 0,-57 46 0,0 2 0,0-1 0,1 2 0,-1-1 0,18-5 0,-25 10 0,-1 0 0,1 1 0,0-1 0,0 1 0,-1-1 0,1 1 0,0 0 0,0 0 0,0 0 0,0 0 0,-1 1 0,1-1 0,0 1 0,0 0 0,-1-1 0,1 1 0,0 1 0,-1-1 0,1 0 0,-1 0 0,0 1 0,1 0 0,-1-1 0,0 1 0,0 0 0,0 0 0,0 0 0,2 4 0,1 1 0,-1 1 0,0 0 0,0 0 0,-1 0 0,0 0 0,0 0 0,-1 1 0,-1-1 0,1 1 0,0 9 0,-1 16 0,-2 41 0,0-49 0,-2-3 0,0-13 0,3-10 0,0 0 0,0 0 0,0 1 0,0-1 0,0 0 0,-1 0 0,1 0 0,0 0 0,0 0 0,0 0 0,0 0 0,0 0 0,0 0 0,0 0 0,-1 0 0,1 0 0,0 0 0,0 0 0,0 0 0,0 0 0,0 0 0,0 0 0,-1 0 0,1 0 0,0 0 0,0 0 0,0 0 0,0 0 0,0 0 0,0 0 0,0 0 0,-1 0 0,1 0 0,0-1 0,0 1 0,0 0 0,0 0 0,0 0 0,0 0 0,0 0 0,0 0 0,0 0 0,0 0 0,-1-1 0,1 1 0,0 0 0,0 0 0,0 0 0,0 0 0,0 0 0,0 0 0,0 0 0,0-1 0,0 1 0,0 0 0,-2-6 0,0 1 0,0-1 0,0 0 0,1 0 0,-1 0 0,1 0 0,0-10 0,3-47 0,-1 56 0,5-58 0,3 1 0,3 1 0,3 0 0,3 1 0,38-93 0,-35 109 0,47-78 0,-67 123 0,-1 0 0,1 0 0,0-1 0,0 1 0,0 0 0,-1 0 0,1 0 0,0 0 0,1 0 0,-1 0 0,0 0 0,0 1 0,0-1 0,0 0 0,1 1 0,-1-1 0,0 1 0,1-1 0,-1 1 0,0-1 0,1 1 0,2 0 0,-2 0 0,0 0 0,0 1 0,0-1 0,0 1 0,-1 0 0,1 0 0,0 0 0,0 0 0,-1 0 0,1 0 0,0 0 0,-1 0 0,1 0 0,1 3 0,5 5 0,0 1 0,-1 0 0,0 1 0,6 12 0,-11-20 0,2 5 0,1 1 0,-2 0 0,1 0 0,-1 0 0,-1 1 0,1-1 0,-2 1 0,1-1 0,-1 1 0,-1 0 0,0-1 0,0 1 0,-1 0 0,0-1 0,-4 19 0,-1-12 0,1 1 0,-2-1 0,0 0 0,-1-1 0,-1 1 0,0-2 0,-23 28 0,5-10 0,12-15 0,0 0 0,1 2 0,1-1 0,0 2 0,2 0 0,-12 27 0,-32 74 0,9-22 0,30-55 0,-11 52 0,26-92 0,-9 25 0,-1 0 0,-1-1 0,-2-1 0,-27 43 0,11-19 0,11-19 0,10-19 0,1 1 0,0 0 0,-6 17 0,6-10 0,-1 0 0,-1 0 0,-1-1 0,-23 32 0,28-42 0,0 0 0,0 0 0,1 0 0,-6 20 0,5-14 0,1-5 0,-1 0 0,-1 0 0,1 0 0,-13 13 0,-2 5 0,-18 22 0,23-31 0,-19 31 0,-40 57 0,74-107 0,0 1 0,0-1 0,0 0 0,0 0 0,0 0 0,0 0 0,0 0 0,0-1 0,0 1 0,0 0 0,-3 1 0,4-2 0,-1 0 0,1 0 0,-1 0 0,1 0 0,0 0 0,-1 0 0,1 0 0,-1 0 0,1 0 0,-1 0 0,1 0 0,0 0 0,-1-1 0,1 1 0,-1 0 0,1 0 0,0 0 0,-1 0 0,1-1 0,-1 1 0,1 0 0,0-1 0,-1 1 0,1 0 0,-1-1 0,-1-2 0,1-1 0,-1 1 0,0 0 0,1-1 0,0 1 0,0-1 0,0 0 0,-1-4 0,-9-72 0,3-1 0,2-112 0,6 132 0,0 45 0,-2-117 0,18-166 0,-14 287 0,-1 1 0,1 0 0,1 0 0,0 0 0,5-11 0,-8 21 0,0 1 0,0-1 0,0 1 0,1-1 0,-1 0 0,0 1 0,1-1 0,-1 1 0,1-1 0,-1 1 0,1-1 0,-1 1 0,1-1 0,-1 1 0,1 0 0,-1-1 0,1 1 0,0-1 0,0 1 0,-1 0 0,0 0 0,1 0 0,-1 1 0,0-1 0,0 0 0,1 0 0,-1 0 0,0 0 0,1 0 0,-1 1 0,0-1 0,0 0 0,1 0 0,-1 0 0,0 1 0,0-1 0,0 0 0,1 0 0,-1 1 0,0-1 0,0 0 0,0 1 0,0-1 0,1 1 0,5 24 0,-3 15 0,-2-1 0,-1 1 0,-2 0 0,-2-1 0,-2 0 0,-2 0 0,-11 38 0,-104 260 0,121-334 0,-14 38 0,-3-1 0,-26 42 0,34-68 0,10-14 0,1 0 0,0 0 0,0 0 0,0 0 0,0-1 0,0 1 0,-1 0 0,1 0 0,0 0 0,0-1 0,0 1 0,0 0 0,0 0 0,0-1 0,0 1 0,0 0 0,0 0 0,0-1 0,0 1 0,0 0 0,0 0 0,0-1 0,0 1 0,0 0 0,0 0 0,0-1 0,0 1 0,0 0 0,0 0 0,0 0 0,0-1 0,0 1 0,1 0 0,12-38 0,5 3 0,2 1 0,40-53 0,61-58 0,-76 94 0,2 1 0,98-79 0,-144 128 0,4-2 0,0-1 0,-1 1 0,1 0 0,9-3 0,-13 5 0,0 1 0,0 0 0,0-1 0,0 1 0,0 0 0,0 0 0,0 0 0,0-1 0,0 1 0,0 1 0,0-1 0,0 0 0,0 0 0,0 0 0,0 0 0,0 1 0,0-1 0,0 0 0,0 1 0,0-1 0,0 1 0,0-1 0,0 1 0,-1-1 0,1 1 0,0 0 0,0-1 0,-1 1 0,1 0 0,0 0 0,-1 0 0,1-1 0,0 2 0,2 6 0,0 0 0,-1 0 0,0 0 0,0 0 0,-1 0 0,0 1 0,0-1 0,-1 0 0,0 1 0,-2 10 0,2-11 0,-4 39 0,-2 0 0,-1 0 0,-3-1 0,-2 0 0,-2-1 0,-1 0 0,-3-1 0,-36 65 0,40-90 0,14-19 0,0 1 0,0-1 0,-1 0 0,1 0 0,0 0 0,0 0 0,0 0 0,0 0 0,-1 1 0,1-1 0,0 0 0,0 0 0,0 0 0,-1 0 0,1 0 0,0 0 0,0 0 0,-1 0 0,1 0 0,0 0 0,0 0 0,0 0 0,-1 0 0,1 0 0,0 0 0,0 0 0,0 0 0,-1 0 0,1 0 0,0-1 0,0 1 0,0 0 0,-1 0 0,1 0 0,0 0 0,0 0 0,0 0 0,0-1 0,0 1 0,-1 0 0,1 0 0,0 0 0,0 0 0,0-1 0,-1-2 0,0-1 0,1 1 0,-1-1 0,1 1 0,0-1 0,0 1 0,0-1 0,1 1 0,0-6 0,3-10 0,1 1 0,1 0 0,0 0 0,1 0 0,1 1 0,1 0 0,17-25 0,1 5 0,1 1 0,37-36 0,7 3 0,4 3 0,2 4 0,3 3 0,96-53 0,-165 105 0,-8 4 0,1 0 0,0 0 0,0 0 0,0 0 0,1 1 0,-1 0 0,1 0 0,-1 1 0,1-1 0,9 0 0,-14 2 0,0 0 0,0 0 0,0 0 0,-1 0 0,1 1 0,0-1 0,0 0 0,0 0 0,0 1 0,-1-1 0,1 1 0,0-1 0,0 1 0,-1-1 0,1 1 0,0-1 0,-1 1 0,1 0 0,0-1 0,-1 1 0,2 1 0,-1 0 0,0 0 0,-1 0 0,1 0 0,0 1 0,0-1 0,-1 0 0,0 0 0,1 4 0,-1 5 0,0 0 0,-3 20 0,2-24 0,-1 7 0,-1 1 0,0-1 0,0 1 0,-2-1 0,1 0 0,-2-1 0,0 1 0,-1-1 0,0 0 0,-1-1 0,-11 15 0,18-26 0,1 0 0,-1 0 0,0 0 0,0 0 0,1 0 0,-1 0 0,0 0 0,0 0 0,0 0 0,0-1 0,0 1 0,0 0 0,0-1 0,-1 1 0,1-1 0,0 1 0,0-1 0,0 0 0,0 1 0,-1-1 0,1 0 0,0 0 0,0 0 0,-3 0 0,3 0 0,0-1 0,0 0 0,0 0 0,-1 0 0,1 0 0,0 0 0,1 0 0,-1 0 0,0 0 0,0 0 0,0 0 0,1 0 0,-1-1 0,0 1 0,1 0 0,-1-1 0,1 1 0,-1-2 0,-2-10 0,1-1 0,0 1 0,-1-19 0,3 32 0,0-41 0,1-1 0,2 1 0,13-65 0,40-120 0,-47 194 0,-4 10 0,0 0 0,1-33 0,-6 54 0,0 0 0,0 1 0,0-1 0,0 1 0,0-1 0,0 0 0,0 1 0,1-1 0,-1 0 0,0 1 0,0-1 0,0 1 0,1-1 0,-1 1 0,0-1 0,1 0 0,-1 1 0,0-1 0,1 1 0,-1-1 0,1 1 0,-1 0 0,1-1 0,0 1 0,-1 0 0,1 0 0,-1 0 0,1 0 0,-1 0 0,1 0 0,-1 0 0,1 0 0,-1 1 0,1-1 0,-1 0 0,1 0 0,-1 1 0,1-1 0,-1 0 0,0 1 0,1-1 0,-1 0 0,1 1 0,0 0 0,1 2 0,1 0 0,-1 1 0,0-1 0,0 0 0,0 1 0,1 4 0,2 11 0,-1 0 0,-1 0 0,0 0 0,-2 0 0,0 1 0,-1-1 0,-1 0 0,-1 0 0,0 1 0,-2-1 0,-9 32 0,1-18 0,-2 0 0,-1-1 0,-1 0 0,-2-1 0,-32 43 0,39-59 0,-7 9 0,1 0 0,-20 39 0,34-55 0,0 1 0,0 0 0,-1 10 0,2-10 0,0 0 0,-1-1 0,-5 13 0,-8 9 0,-38 51 0,22-36 0,14-16 0,-18 41 0,24-45 0,-1 1 0,-30 41 0,32-53 0,8-8 0,-1 0 0,-1-1 0,1 0 0,-1 1 0,0-2 0,0 1 0,-7 4 0,12-8 0,-1-1 0,1 0 0,0 0 0,0 0 0,0 0 0,0 0 0,0 1 0,-1-1 0,1 0 0,0 0 0,0 0 0,0 0 0,0 0 0,-1 0 0,1 0 0,0 0 0,0 0 0,0 0 0,-1 0 0,1 0 0,0 0 0,0 0 0,0 0 0,0 0 0,-1 0 0,1 0 0,0 0 0,0 0 0,0 0 0,-1 0 0,1 0 0,0 0 0,0 0 0,0 0 0,0 0 0,-1-1 0,1 1 0,0 0 0,0 0 0,0 0 0,0 0 0,0 0 0,0 0 0,-1-1 0,1 1 0,2-12 0,8-12 0,3 8 0,1 1 0,20-19 0,9-9 0,-21 20 0,0 0 0,37-27 0,-56 48 0,0-1 0,0 1 0,0 1 0,0-1 0,0 0 0,1 1 0,-1 0 0,0-1 0,1 1 0,-1 1 0,1-1 0,0 0 0,-1 1 0,1 0 0,-1 0 0,1 0 0,0 0 0,5 2 0,-6-1 0,-1 0 0,1 0 0,-1 0 0,1 0 0,-1 1 0,0-1 0,1 1 0,-1 0 0,0-1 0,0 1 0,0 0 0,0 0 0,-1 1 0,1-1 0,-1 0 0,1 0 0,-1 1 0,0-1 0,1 1 0,-1-1 0,-1 1 0,1 0 0,0-1 0,0 6 0,0-5 0,0 1 0,-1 0 0,0-1 0,0 1 0,0 0 0,0 0 0,0-1 0,-1 1 0,1 0 0,-1 0 0,-2 4 0,3-6 0,-1-1 0,0 1 0,0 0 0,0-1 0,-1 1 0,1-1 0,0 0 0,0 1 0,-1-1 0,1 0 0,-1 0 0,1 0 0,-1 1 0,0-2 0,1 1 0,-1 0 0,0 0 0,0-1 0,1 1 0,-1 0 0,0-1 0,0 0 0,-3 1 0,-2-1 0,1 0 0,0-1 0,-1 1 0,1-1 0,-8-3 0,9 3 0,1 0 0,-1 0 0,1 0 0,-1 1 0,1-1 0,-1 1 0,0 0 0,1 0 0,-1 1 0,1-1 0,-8 3 0,-8 6 0,-27 15 0,36-17 0,0-1 0,-1 0 0,0 0 0,0-2 0,0 1 0,0-1 0,-21 3 0,26-6 0,0 0 0,1 0 0,-1 1 0,1 0 0,0 0 0,0 1 0,0-1 0,0 1 0,-10 7 0,-1 3 0,-26 26 0,8-8 0,26-22 0,-1 1 0,1-1 0,1 2 0,-1-1 0,2 1 0,0 0 0,0 1 0,1-1 0,0 2 0,1-1 0,0 0 0,-4 23 0,-3 11 0,2-12 0,1 2 0,2-1 0,-3 65 0,8-78 0,0 0 0,-9 34 0,7-34 0,0-1 0,-2 40 0,6-57 0,-1 0 0,0 0 0,0 0 0,0-1 0,0 1 0,0 0 0,-1 0 0,0-1 0,1 1 0,-1-1 0,-1 1 0,1-1 0,0 0 0,-1 0 0,0 0 0,0 0 0,0-1 0,-4 4 0,3-3 0,0 0 0,0 0 0,0 0 0,-1-1 0,1 0 0,-1 0 0,0 0 0,0 0 0,1-1 0,-1 0 0,0 0 0,0 0 0,0-1 0,-7 1 0,11-1 0,0 0 0,0 0 0,-1-1 0,1 1 0,0 0 0,-1 0 0,1-1 0,0 1 0,0-1 0,0 1 0,-1-1 0,1 0 0,0 1 0,0-1 0,0 0 0,0 0 0,0 0 0,0 0 0,0 0 0,1 0 0,-1 0 0,-1-1 0,1-1 0,0 1 0,1 0 0,-1 0 0,0-1 0,1 1 0,0-1 0,0 1 0,0 0 0,0-1 0,0 1 0,0-4 0,3-6 0,0 0 0,0 1 0,9-21 0,-10 28 0,1-4 0,0 0 0,1 0 0,0 0 0,1 1 0,9-15 0,-11 20 0,-1 0 0,0 0 0,1 0 0,-1 0 0,1 1 0,0-1 0,0 0 0,0 1 0,-1 0 0,1 0 0,0 0 0,1 0 0,-1 0 0,0 1 0,0-1 0,0 1 0,0 0 0,0 0 0,1 0 0,2 1 0,23 2 0,29 8 0,20 3 0,-54-11 0,1-1 0,-1-2 0,0 0 0,0-2 0,34-6 0,-41 5 0,1 1 0,19 0 0,-20 2 0,1-2 0,22-3 0,-17 1 0,0 2 0,0 0 0,41 3 0,-17 0 0,-44-1 0,0 0 0,0 0 0,0 1 0,0-1 0,0 1 0,0-1 0,0 1 0,-1 0 0,1 0 0,0 0 0,0 1 0,-1-1 0,1 1 0,-1-1 0,4 4 0,-5-4 0,0 0 0,0 1 0,0-1 0,0 0 0,0 1 0,-1-1 0,1 1 0,0-1 0,-1 1 0,1 0 0,-1-1 0,0 1 0,0-1 0,1 1 0,-1 0 0,0-1 0,0 1 0,0 0 0,-1-1 0,1 1 0,0-1 0,0 1 0,-1 0 0,1-1 0,-1 1 0,0-1 0,1 1 0,-1-1 0,-2 3 0,1 0 0,-1 1 0,0-1 0,0 0 0,0 0 0,-1 0 0,1 0 0,-1-1 0,0 0 0,0 1 0,0-1 0,0-1 0,-1 1 0,0 0 0,1-1 0,-1 0 0,0 0 0,0-1 0,-5 2 0,-8 0 0,0-1 0,0 0 0,-35-3 0,33 1 0,0 0 0,-28 4 0,19 0 0,-36 0 0,27-2 0,20 0 0,1 2 0,0 0 0,0 1 0,0 1 0,-21 10 0,-10 3 0,-116 29-1365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2:37:03.7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216 2080 24575,'0'-34'0,"-2"0"0,0 0 0,-15-63 0,8 52 0,6 26 0,-8-25 0,-26-91 0,22 32 0,-35-121 0,2 28 0,39 151 0,3 0 0,-1-64 0,8 82 0,2-1 0,1 2 0,9-38 0,48-130 0,-37 121 0,-8 28 0,8-25 0,6-64 0,-23 102 0,12-30 0,-8 31 0,5-34 0,-15 61 0,0 0 0,0-1 0,0 1 0,0 0 0,1 0 0,-1 0 0,1 0 0,0 0 0,1 0 0,4-6 0,-6 9 0,1-1 0,0 1 0,-1 0 0,1 0 0,0 0 0,0-1 0,0 2 0,0-1 0,0 0 0,0 0 0,0 1 0,0-1 0,0 1 0,0 0 0,1-1 0,-1 1 0,0 0 0,0 0 0,0 1 0,0-1 0,1 0 0,-1 1 0,4 1 0,3 1 0,1 1 0,-1 0 0,0 0 0,0 1 0,0 1 0,0-1 0,-1 1 0,13 13 0,4 5 0,27 34 0,-37-40 0,-1 2 0,0-1 0,16 33 0,-25-41 0,-1 0 0,1 0 0,-2 1 0,0-1 0,0 1 0,-1 0 0,0 0 0,0 22 0,-2 34 0,10 70 0,-6-92 0,-3 1 0,-3 52 0,-5-35 0,-1 33 0,9-74 0,-1-15 0,1 0 0,-1 0 0,0 0 0,-1 0 0,-2 11 0,3-19 0,0 1 0,0-1 0,0 0 0,0 1 0,-1-1 0,1 0 0,0 0 0,0 1 0,0-1 0,0 0 0,0 0 0,0 0 0,-1 1 0,1-1 0,0 0 0,0 0 0,0 0 0,-1 1 0,1-1 0,0 0 0,0 0 0,0 0 0,-1 0 0,1 0 0,0 1 0,0-1 0,-1 0 0,1 0 0,0 0 0,-1 0 0,1 0 0,0 0 0,0 0 0,-1 0 0,1 0 0,0 0 0,-1 0 0,-10-8 0,-9-16 0,19 22 0,-12-14 0,1-1 0,1-1 0,1 0 0,0-1 0,1 0 0,1 0 0,-9-35 0,12 26 0,1 1 0,1 0 0,2-1 0,4-52 0,-1 68-1365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2:37:03.7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195 271 24575,'-1'-2'0,"1"0"0,0 0 0,-1 0 0,1 0 0,-1 0 0,0 0 0,0 0 0,0 0 0,0 0 0,0 0 0,0 0 0,0 1 0,-3-3 0,-23-23 0,11 12 0,-2-4 0,-49-56 0,58 65 0,1-1 0,1-1 0,0 0 0,0 0 0,-5-14 0,12 26 0,-1-1 0,1 0 0,0 1 0,-1-1 0,1 0 0,0 0 0,0 1 0,0-1 0,-1 0 0,1 0 0,0 1 0,0-1 0,0 0 0,0 0 0,0 1 0,0-1 0,0 0 0,1 0 0,-1 1 0,0-1 0,0 0 0,1 1 0,-1-1 0,0 0 0,1 1 0,0-2 0,0 1 0,0 1 0,-1 0 0,1-1 0,0 1 0,0 0 0,0 0 0,0-1 0,0 1 0,0 0 0,0 0 0,0 0 0,0 0 0,0 0 0,0 0 0,0 1 0,0-1 0,1 0 0,4 2 0,0 0 0,-1 0 0,1 0 0,-1 1 0,8 4 0,-8-3 0,0-1 0,0 1 0,-1 0 0,0 0 0,1 1 0,-1-1 0,-1 1 0,1 0 0,-1 0 0,1 0 0,-2 1 0,1-1 0,0 1 0,-1-1 0,0 1 0,1 6 0,-14-30 0,8 15 0,0 0 0,1 0 0,0 0 0,0-1 0,0 1 0,0-1 0,0 0 0,1 1 0,-2-7 0,21 36 0,-11-14 0,-1 1 0,0 0 0,-1 0 0,0 0 0,-1 1 0,-1-1 0,0 1 0,0 0 0,-2 0 0,0 0 0,0 1 0,-1-1 0,-3 17 0,-1-5 0,-1 0 0,-1-1 0,-2 0 0,0-1 0,-2 1 0,-16 30 0,17-34 0,1 0 0,1 0 0,-6 38 0,8-39 0,-3 42 0,2-10 0,4-41 0,0 0 0,1-1 0,0 22 0,1-29 0,1 1 0,-1 0 0,1-1 0,0 1 0,0 0 0,0-1 0,1 1 0,-1-1 0,1 0 0,0 1 0,0-1 0,0 0 0,0 0 0,5 5 0,-3-3 0,0 1 0,0-1 0,0 1 0,-1 0 0,0 0 0,0 1 0,4 10 0,-3-4 0,-1 0 0,0 0 0,2 15 0,-3 36 0,-2-41 0,1-1 0,5 25 0,3 11 0,-3-1 0,-1 86 0,-6-108 0,0-20 0,1-1 0,0 0 0,1 1 0,0-1 0,1 1 0,1-1 0,6 22 0,-6-26 0,0 0 0,0 0 0,-1 0 0,-1 1 0,0-1 0,0 15 0,1 3 0,-2-25-91,0 1 0,0-1 0,1 0 0,-1 0 0,1 0 0,0 0 0,0 0 0,0 0 0,0 0 0,0 0 0,1 0 0,-1-1 0,1 1 0,3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1T02:37:03.7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2 521 24575,'3'0'0,"1"0"0,0 0 0,0 0 0,0-1 0,0 1 0,0-1 0,7-2 0,-9 1 0,0 1 0,0 0 0,-1-1 0,1 1 0,0-1 0,0 1 0,-1-1 0,1 0 0,-1 0 0,0 0 0,1 0 0,-1 0 0,0 0 0,1-3 0,7-19 0,-1 1 0,0-1 0,6-45 0,-3 12 0,11-13 0,-5 19 0,-14 38 0,-1 1 0,0 0 0,-1 0 0,0-1 0,0 1 0,-2-1 0,1 1 0,-5-23 0,4 33 0,0 0 0,0 0 0,0 0 0,0 0 0,0 0 0,-1 0 0,1 1 0,0-1 0,-1 0 0,0 1 0,1-1 0,-1 1 0,0 0 0,1 0 0,-1-1 0,0 1 0,0 0 0,0 1 0,0-1 0,0 0 0,0 0 0,0 1 0,0-1 0,-1 1 0,-2 0 0,-7-1 0,1 0 0,0 2 0,-18 1 0,24-1 0,3-1-50,0 0-1,0 0 1,0 0-1,0 0 0,1 1 1,-1-1-1,0 1 1,0-1-1,0 1 1,1 0-1,-1 0 0,0 0 1,1 0-1,-1 0 1,0 0-1,1 0 1,0 1-1,-1-1 0,1 0 1,0 1-1,-1-1 1,1 1-1,0-1 1,0 1-1,0 0 1,-1 3-1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3B212E-68B3-B031-ADAC-8EAE71A2F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FE7713E-B60F-ECB6-E998-6AC93396B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95FCA6-9043-7788-4951-461FFF446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97A3-D1E0-41CC-994E-3F250E71732E}" type="datetimeFigureOut">
              <a:rPr lang="zh-HK" altLang="en-US" smtClean="0"/>
              <a:t>8/9/2026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27D5A9-CA97-E072-F6C6-06FDAF0D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A415A0-140D-0520-F373-F89D1582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AEE5-6905-4EBA-AF26-FA068077416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38397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226068-6CFA-A4C0-4043-FDA5D3681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0F220D-774D-AAED-81F2-3C8416506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E718EE-B934-5EFB-BF3A-5B85D746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97A3-D1E0-41CC-994E-3F250E71732E}" type="datetimeFigureOut">
              <a:rPr lang="zh-HK" altLang="en-US" smtClean="0"/>
              <a:t>8/9/2026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8728B5-E2AF-82D4-66D9-9F45AAA3A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75D846-0261-E825-6FAF-56A5D0E51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AEE5-6905-4EBA-AF26-FA068077416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0638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19D01-017C-8C83-41E3-D84BBA05C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C56DE9-7ACF-E3D4-26A9-BFABAC800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85429E-8007-8BC8-5833-B895EE063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97A3-D1E0-41CC-994E-3F250E71732E}" type="datetimeFigureOut">
              <a:rPr lang="zh-HK" altLang="en-US" smtClean="0"/>
              <a:t>8/9/2026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36AB73-CBCE-519A-EB9C-1055E2E8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DEB28D-ACFB-7FBF-00C4-4F211706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AEE5-6905-4EBA-AF26-FA068077416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64576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3481A1-FB20-97CD-7962-A52CDC12A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70277F-EAF6-AE3C-0786-FCF2ACC73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09471E-7480-5897-5E8C-BD32ACD10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20C39EE-8E1D-1CED-8644-4512E050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97A3-D1E0-41CC-994E-3F250E71732E}" type="datetimeFigureOut">
              <a:rPr lang="zh-HK" altLang="en-US" smtClean="0"/>
              <a:t>8/9/2026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65F772-3EB7-E704-53A1-CC8E0F303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EC2370F-A948-1132-DA25-2723BF49C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AEE5-6905-4EBA-AF26-FA068077416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5198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340BC3-4EA2-062E-EBF5-0DC91379C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CBB8F3B-AD99-65B8-F00D-062D43170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0E1C55A-BDBE-FE44-3836-411DA7AED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9A8012B-FF56-043E-10B6-D6C21E481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CA71F8D-186E-7916-0F2D-5EE42A02B4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DD26D23-6E02-1613-78AC-F1785FCA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97A3-D1E0-41CC-994E-3F250E71732E}" type="datetimeFigureOut">
              <a:rPr lang="zh-HK" altLang="en-US" smtClean="0"/>
              <a:t>8/9/2026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EB3C8EB-4F97-79A5-9D5C-99692D63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FC418A3-87FE-6A71-8761-4EEC987A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AEE5-6905-4EBA-AF26-FA068077416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4282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27C561-F1A9-D4F8-828E-362A6FA3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C36CEB7-68C3-1C43-E127-B0DFF4EB6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97A3-D1E0-41CC-994E-3F250E71732E}" type="datetimeFigureOut">
              <a:rPr lang="zh-HK" altLang="en-US" smtClean="0"/>
              <a:t>8/9/2026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E7389CA-A56E-B009-6DD9-AE0336E58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EBDEB1-9F6F-6343-E2BA-D5ACAD44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AEE5-6905-4EBA-AF26-FA068077416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13174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306AC72-CF88-0D65-3ABD-6099949A1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97A3-D1E0-41CC-994E-3F250E71732E}" type="datetimeFigureOut">
              <a:rPr lang="zh-HK" altLang="en-US" smtClean="0"/>
              <a:t>8/9/2026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B612BA7-C122-AD35-6212-F08F38CB3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907AB2-3303-A617-E046-07DE1A5F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AEE5-6905-4EBA-AF26-FA068077416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06006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FEF836-C53C-821F-0A11-4A1B1E0B9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D2B9B7-98C1-7037-DF21-648D5B712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DC9DF44-8772-1472-C205-F16D2D742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5A6F16-761F-E976-812A-ACDA194A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97A3-D1E0-41CC-994E-3F250E71732E}" type="datetimeFigureOut">
              <a:rPr lang="zh-HK" altLang="en-US" smtClean="0"/>
              <a:t>8/9/2026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E435E72-A6B3-89F6-8881-DC61E7D5E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275CC0-8F59-22ED-5154-3BA480B8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AEE5-6905-4EBA-AF26-FA068077416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6786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5FAABE-D07A-43A2-BAB3-A23B9FD07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38FE082-6FEC-1082-8053-FCEDEDD1E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BAD3DD6-C080-693F-9EAF-21DFF97AA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B6E7E1-08A7-77C8-47BD-3AC4A2F8A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97A3-D1E0-41CC-994E-3F250E71732E}" type="datetimeFigureOut">
              <a:rPr lang="zh-HK" altLang="en-US" smtClean="0"/>
              <a:t>8/9/2026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E944D23-34B7-3A51-E15E-83618E3A6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93E3828-885C-649F-8F3D-5DA4C061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AEE5-6905-4EBA-AF26-FA068077416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2792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8B90A-B55E-F926-EB26-3DFEF875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CDFBCA3-EEB7-2A5E-AC29-4B9AB548A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D4A5AE-45AD-1948-0657-DD871F5B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97A3-D1E0-41CC-994E-3F250E71732E}" type="datetimeFigureOut">
              <a:rPr lang="zh-HK" altLang="en-US" smtClean="0"/>
              <a:t>8/9/2026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66F0F6-B3E8-2FE5-A511-30EE8C3F1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848023-5EF3-6C4C-8975-447857C7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AEE5-6905-4EBA-AF26-FA068077416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40705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45F0CE2-25BA-E4BB-4017-87418CA70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D535F5A-E487-CA68-0B28-60CD8FDDD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0F45AF-C311-741C-D315-6512410F8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A97A3-D1E0-41CC-994E-3F250E71732E}" type="datetimeFigureOut">
              <a:rPr lang="zh-HK" altLang="en-US" smtClean="0"/>
              <a:t>8/9/2026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2BDABD-0357-9200-91C1-61D7190FC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8ECD9E-E50A-8B23-32F4-0B4E71D54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FAEE5-6905-4EBA-AF26-FA068077416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146151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96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C317BED-97D2-642B-7154-0B7FB2CC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A48B0A9-E008-8DA0-470F-463AFA32E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8F4768-5F28-198D-647D-86B14A526D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A97A3-D1E0-41CC-994E-3F250E71732E}" type="datetimeFigureOut">
              <a:rPr lang="zh-HK" altLang="en-US" smtClean="0"/>
              <a:t>8/9/2026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A8ED86-ECCB-C30C-8EE2-EE6DCFB89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EEE520-E4F5-1A02-8D5C-CF1359CE5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FAEE5-6905-4EBA-AF26-FA068077416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256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customXml" Target="../ink/ink2.xm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eg"/><Relationship Id="rId7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9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AAC33-7116-953E-00F1-A77807A13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3CED1079-CCAD-52AE-788C-CCFB17F3B387}"/>
              </a:ext>
            </a:extLst>
          </p:cNvPr>
          <p:cNvGrpSpPr/>
          <p:nvPr/>
        </p:nvGrpSpPr>
        <p:grpSpPr>
          <a:xfrm>
            <a:off x="9145291" y="235016"/>
            <a:ext cx="2826431" cy="2604832"/>
            <a:chOff x="2988653" y="1335480"/>
            <a:chExt cx="4642200" cy="4278240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98D0FCC8-2D75-A81D-58EB-EA89DE7A0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2493" y="1574119"/>
              <a:ext cx="4305300" cy="4029075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筆跡 9">
                  <a:extLst>
                    <a:ext uri="{FF2B5EF4-FFF2-40B4-BE49-F238E27FC236}">
                      <a16:creationId xmlns:a16="http://schemas.microsoft.com/office/drawing/2014/main" id="{A444F7DB-5C1E-537D-2399-C08A81C3453F}"/>
                    </a:ext>
                  </a:extLst>
                </p14:cNvPr>
                <p14:cNvContentPartPr/>
                <p14:nvPr/>
              </p14:nvContentPartPr>
              <p14:xfrm>
                <a:off x="2988653" y="1429080"/>
                <a:ext cx="771840" cy="1715400"/>
              </p14:xfrm>
            </p:contentPart>
          </mc:Choice>
          <mc:Fallback xmlns="">
            <p:pic>
              <p:nvPicPr>
                <p:cNvPr id="10" name="筆跡 9">
                  <a:extLst>
                    <a:ext uri="{FF2B5EF4-FFF2-40B4-BE49-F238E27FC236}">
                      <a16:creationId xmlns:a16="http://schemas.microsoft.com/office/drawing/2014/main" id="{A444F7DB-5C1E-537D-2399-C08A81C3453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85229" y="1325636"/>
                  <a:ext cx="978097" cy="19216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筆跡 10">
                  <a:extLst>
                    <a:ext uri="{FF2B5EF4-FFF2-40B4-BE49-F238E27FC236}">
                      <a16:creationId xmlns:a16="http://schemas.microsoft.com/office/drawing/2014/main" id="{DDD7F76F-DC42-897E-E874-40CE0DB9AB8B}"/>
                    </a:ext>
                  </a:extLst>
                </p14:cNvPr>
                <p14:cNvContentPartPr/>
                <p14:nvPr/>
              </p14:nvContentPartPr>
              <p14:xfrm>
                <a:off x="7213253" y="1335480"/>
                <a:ext cx="349560" cy="1230120"/>
              </p14:xfrm>
            </p:contentPart>
          </mc:Choice>
          <mc:Fallback xmlns="">
            <p:pic>
              <p:nvPicPr>
                <p:cNvPr id="11" name="筆跡 10">
                  <a:extLst>
                    <a:ext uri="{FF2B5EF4-FFF2-40B4-BE49-F238E27FC236}">
                      <a16:creationId xmlns:a16="http://schemas.microsoft.com/office/drawing/2014/main" id="{DDD7F76F-DC42-897E-E874-40CE0DB9AB8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109745" y="1232034"/>
                  <a:ext cx="555984" cy="14364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86DF3A27-3272-6EAC-C076-214F1B413005}"/>
                    </a:ext>
                  </a:extLst>
                </p14:cNvPr>
                <p14:cNvContentPartPr/>
                <p14:nvPr/>
              </p14:nvContentPartPr>
              <p14:xfrm>
                <a:off x="7284893" y="1651560"/>
                <a:ext cx="115200" cy="1027440"/>
              </p14:xfrm>
            </p:contentPart>
          </mc:Choice>
          <mc:Fallback xmlns=""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86DF3A27-3272-6EAC-C076-214F1B41300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81508" y="1548107"/>
                  <a:ext cx="321378" cy="12337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AFCF3CE1-EA3B-5094-AA06-2D1EB3BBC721}"/>
                    </a:ext>
                  </a:extLst>
                </p14:cNvPr>
                <p14:cNvContentPartPr/>
                <p14:nvPr/>
              </p14:nvContentPartPr>
              <p14:xfrm>
                <a:off x="7534373" y="5305560"/>
                <a:ext cx="96480" cy="308160"/>
              </p14:xfrm>
            </p:contentPart>
          </mc:Choice>
          <mc:Fallback xmlns=""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AFCF3CE1-EA3B-5094-AA06-2D1EB3BBC72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431422" y="5202250"/>
                  <a:ext cx="301794" cy="51419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C6A3F497-AF33-8123-6F2B-B041324BDEBE}"/>
              </a:ext>
            </a:extLst>
          </p:cNvPr>
          <p:cNvSpPr txBox="1"/>
          <p:nvPr/>
        </p:nvSpPr>
        <p:spPr>
          <a:xfrm>
            <a:off x="328635" y="342075"/>
            <a:ext cx="8858908" cy="1502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香港友邦保险</a:t>
            </a: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4000" b="1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环宇盈活储蓄保险计划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FD24F9-27E7-D2E5-8A28-FB0ACF03B5D5}"/>
              </a:ext>
            </a:extLst>
          </p:cNvPr>
          <p:cNvSpPr txBox="1"/>
          <p:nvPr/>
        </p:nvSpPr>
        <p:spPr>
          <a:xfrm>
            <a:off x="407697" y="1186567"/>
            <a:ext cx="6096000" cy="726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目标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全球低息环境下及动荡的股票市场下提供出路</a:t>
            </a:r>
            <a:endParaRPr lang="en-US" altLang="zh-CN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优点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兼享灵活配置和现金提取优势</a:t>
            </a: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B5AE1E8-88BE-E003-C065-EEDDB613518F}"/>
              </a:ext>
            </a:extLst>
          </p:cNvPr>
          <p:cNvSpPr txBox="1"/>
          <p:nvPr/>
        </p:nvSpPr>
        <p:spPr>
          <a:xfrm>
            <a:off x="0" y="3141411"/>
            <a:ext cx="5051502" cy="3221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2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供款额：</a:t>
            </a:r>
            <a:b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美元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b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存款期：</a:t>
            </a:r>
            <a:b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b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b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CN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总供款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b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美元 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0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CN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CN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4B009DC-054B-1DCE-8A76-27497EAB392C}"/>
              </a:ext>
            </a:extLst>
          </p:cNvPr>
          <p:cNvSpPr txBox="1"/>
          <p:nvPr/>
        </p:nvSpPr>
        <p:spPr>
          <a:xfrm>
            <a:off x="5697615" y="2364251"/>
            <a:ext cx="3198182" cy="596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 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预期现金</a:t>
            </a:r>
            <a:r>
              <a:rPr lang="zh-CN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价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 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1427AE8-BD27-F6A7-D6B7-16672C2D3DE0}"/>
              </a:ext>
            </a:extLst>
          </p:cNvPr>
          <p:cNvSpPr txBox="1"/>
          <p:nvPr/>
        </p:nvSpPr>
        <p:spPr>
          <a:xfrm>
            <a:off x="407697" y="2364251"/>
            <a:ext cx="2357805" cy="596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 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计划重点 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28D6982-BDFE-C0F3-E6CD-AC7E32BEE9E6}"/>
              </a:ext>
            </a:extLst>
          </p:cNvPr>
          <p:cNvSpPr txBox="1"/>
          <p:nvPr/>
        </p:nvSpPr>
        <p:spPr>
          <a:xfrm>
            <a:off x="6096000" y="6457890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*以美元兑</a:t>
            </a:r>
            <a:r>
              <a:rPr lang="zh-TW" altLang="en-US" sz="10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汇率</a:t>
            </a:r>
            <a:r>
              <a:rPr lang="en-US" altLang="zh-HK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6.8</a:t>
            </a: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计算*</a:t>
            </a:r>
            <a:br>
              <a:rPr lang="en-US" altLang="zh-HK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以上数据只供参考, 详情请参阅建议书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92825F8-F1DE-EB7E-9B15-8221F46C8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06130"/>
              </p:ext>
            </p:extLst>
          </p:nvPr>
        </p:nvGraphicFramePr>
        <p:xfrm>
          <a:off x="5833951" y="3188783"/>
          <a:ext cx="6172199" cy="3200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185">
                  <a:extLst>
                    <a:ext uri="{9D8B030D-6E8A-4147-A177-3AD203B41FA5}">
                      <a16:colId xmlns:a16="http://schemas.microsoft.com/office/drawing/2014/main" val="1152394542"/>
                    </a:ext>
                  </a:extLst>
                </a:gridCol>
                <a:gridCol w="1616686">
                  <a:extLst>
                    <a:ext uri="{9D8B030D-6E8A-4147-A177-3AD203B41FA5}">
                      <a16:colId xmlns:a16="http://schemas.microsoft.com/office/drawing/2014/main" val="3686692909"/>
                    </a:ext>
                  </a:extLst>
                </a:gridCol>
                <a:gridCol w="1733664">
                  <a:extLst>
                    <a:ext uri="{9D8B030D-6E8A-4147-A177-3AD203B41FA5}">
                      <a16:colId xmlns:a16="http://schemas.microsoft.com/office/drawing/2014/main" val="1408121928"/>
                    </a:ext>
                  </a:extLst>
                </a:gridCol>
                <a:gridCol w="1733664">
                  <a:extLst>
                    <a:ext uri="{9D8B030D-6E8A-4147-A177-3AD203B41FA5}">
                      <a16:colId xmlns:a16="http://schemas.microsoft.com/office/drawing/2014/main" val="969619712"/>
                    </a:ext>
                  </a:extLst>
                </a:gridCol>
              </a:tblGrid>
              <a:tr h="405893">
                <a:tc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</a:t>
                      </a:r>
                      <a:endParaRPr lang="zh-HK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kern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人民币</a:t>
                      </a:r>
                      <a:endParaRPr lang="zh-HK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年度化年利率 </a:t>
                      </a:r>
                      <a:endParaRPr lang="zh-HK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9889"/>
                  </a:ext>
                </a:extLst>
              </a:tr>
              <a:tr h="698562"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  <a:r>
                        <a:rPr lang="zh-TW" altLang="en-US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年后 </a:t>
                      </a:r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%</a:t>
                      </a:r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033714"/>
                  </a:ext>
                </a:extLst>
              </a:tr>
              <a:tr h="6985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  <a:r>
                        <a:rPr lang="zh-TW" altLang="en-US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年后 </a:t>
                      </a:r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%</a:t>
                      </a:r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477640"/>
                  </a:ext>
                </a:extLst>
              </a:tr>
              <a:tr h="6985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40</a:t>
                      </a:r>
                      <a:r>
                        <a:rPr lang="zh-TW" altLang="en-US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年后 </a:t>
                      </a:r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%</a:t>
                      </a:r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174538"/>
                  </a:ext>
                </a:extLst>
              </a:tr>
              <a:tr h="698562"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</a:t>
                      </a:r>
                      <a:r>
                        <a:rPr lang="zh-TW" altLang="en-US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年后 </a:t>
                      </a:r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HK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%</a:t>
                      </a:r>
                      <a:endParaRPr lang="zh-HK" altLang="en-US" sz="20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125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496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74464EA9-D715-2CCB-ADF9-FEA545DC4DE1}"/>
              </a:ext>
            </a:extLst>
          </p:cNvPr>
          <p:cNvSpPr txBox="1"/>
          <p:nvPr/>
        </p:nvSpPr>
        <p:spPr>
          <a:xfrm>
            <a:off x="321734" y="279400"/>
            <a:ext cx="82109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岁 先生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小姐 环宇盈活储蓄计划（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年缴费）</a:t>
            </a:r>
            <a:endParaRPr lang="zh-HK" altLang="en-US" sz="3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25CDE1A-3D0F-CAA3-01EE-2BA6BE2F7D0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5556"/>
          <a:stretch>
            <a:fillRect/>
          </a:stretch>
        </p:blipFill>
        <p:spPr bwMode="auto">
          <a:xfrm>
            <a:off x="4636133" y="1106912"/>
            <a:ext cx="291973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965D8C2-D7AF-0C77-8086-E1B52A8BC34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7960" r="3980" b="5164"/>
          <a:stretch>
            <a:fillRect/>
          </a:stretch>
        </p:blipFill>
        <p:spPr bwMode="auto">
          <a:xfrm>
            <a:off x="9092670" y="2073488"/>
            <a:ext cx="1914524" cy="1957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AutoShape 8">
            <a:extLst>
              <a:ext uri="{FF2B5EF4-FFF2-40B4-BE49-F238E27FC236}">
                <a16:creationId xmlns:a16="http://schemas.microsoft.com/office/drawing/2014/main" id="{DA135618-0CD4-6544-BBFA-0034DCAA0EA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409486" y="2981657"/>
            <a:ext cx="520700" cy="413385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/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C3EEDF13-E178-9346-AA7F-0F313C1B481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079412" y="2991182"/>
            <a:ext cx="520700" cy="413385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/>
          </a:p>
        </p:txBody>
      </p:sp>
      <p:sp>
        <p:nvSpPr>
          <p:cNvPr id="12" name="AutoShape 28">
            <a:extLst>
              <a:ext uri="{FF2B5EF4-FFF2-40B4-BE49-F238E27FC236}">
                <a16:creationId xmlns:a16="http://schemas.microsoft.com/office/drawing/2014/main" id="{4DCB10E3-7A34-624D-7BD0-246B6D14D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893" y="1330484"/>
            <a:ext cx="854075" cy="631826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83B83B"/>
          </a:solidFill>
          <a:ln w="9525">
            <a:noFill/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F2B11A4-6CF5-92F1-3296-3345EB27D4F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21909" y="3618297"/>
            <a:ext cx="542924" cy="37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283240B-A06E-3B2F-A4F3-6072DF70F83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74358" y="3618297"/>
            <a:ext cx="542924" cy="37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778A5321-D553-F0F0-2DC5-1AD6E0F3419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84806" y="3637634"/>
            <a:ext cx="542924" cy="37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F1FF3B3-B38D-E668-352E-AB7CA073E3B7}"/>
              </a:ext>
            </a:extLst>
          </p:cNvPr>
          <p:cNvCxnSpPr>
            <a:cxnSpLocks/>
          </p:cNvCxnSpPr>
          <p:nvPr/>
        </p:nvCxnSpPr>
        <p:spPr>
          <a:xfrm>
            <a:off x="194733" y="4203500"/>
            <a:ext cx="11675534" cy="507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5D264DA-A6EF-64EE-4A8D-EF744D6A27B0}"/>
              </a:ext>
            </a:extLst>
          </p:cNvPr>
          <p:cNvSpPr/>
          <p:nvPr/>
        </p:nvSpPr>
        <p:spPr>
          <a:xfrm>
            <a:off x="994829" y="4071289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99D85FC-24A3-ED0D-6DF3-E1A25032287C}"/>
              </a:ext>
            </a:extLst>
          </p:cNvPr>
          <p:cNvSpPr/>
          <p:nvPr/>
        </p:nvSpPr>
        <p:spPr>
          <a:xfrm>
            <a:off x="2457447" y="4071289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D01122-F519-C8F0-0E29-760CFEC43253}"/>
              </a:ext>
            </a:extLst>
          </p:cNvPr>
          <p:cNvSpPr/>
          <p:nvPr/>
        </p:nvSpPr>
        <p:spPr>
          <a:xfrm>
            <a:off x="5537204" y="4088222"/>
            <a:ext cx="1184276" cy="264425"/>
          </a:xfrm>
          <a:prstGeom prst="rect">
            <a:avLst/>
          </a:prstGeom>
          <a:solidFill>
            <a:srgbClr val="9CC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xx-xx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AFC5C50-0296-F010-4EFE-F4CAF2ECECBC}"/>
              </a:ext>
            </a:extLst>
          </p:cNvPr>
          <p:cNvSpPr/>
          <p:nvPr/>
        </p:nvSpPr>
        <p:spPr>
          <a:xfrm>
            <a:off x="9659421" y="4113623"/>
            <a:ext cx="788446" cy="264425"/>
          </a:xfrm>
          <a:prstGeom prst="rect">
            <a:avLst/>
          </a:prstGeom>
          <a:solidFill>
            <a:srgbClr val="DFD3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47FC9FB-9AE2-51E8-1521-C510BE659E5B}"/>
              </a:ext>
            </a:extLst>
          </p:cNvPr>
          <p:cNvSpPr txBox="1"/>
          <p:nvPr/>
        </p:nvSpPr>
        <p:spPr>
          <a:xfrm>
            <a:off x="1184806" y="5923975"/>
            <a:ext cx="102653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环宇盈活储蓄计划</a:t>
            </a:r>
            <a:r>
              <a:rPr lang="zh-HK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（5年缴费），一生合共提取</a:t>
            </a:r>
            <a:r>
              <a:rPr lang="zh-HK" altLang="en-US" sz="17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美元</a:t>
            </a:r>
            <a:r>
              <a:rPr lang="en-US" altLang="zh-HK" sz="17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HK" altLang="en-US" sz="17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en-US" sz="1800" b="1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TW" sz="1800" b="1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XX</a:t>
            </a:r>
            <a:r>
              <a:rPr lang="zh-HK" altLang="en-US" sz="17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HK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，为已缴储蓄成本</a:t>
            </a:r>
            <a:r>
              <a:rPr lang="zh-HK" altLang="en-US" sz="17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HK" sz="17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HK" altLang="en-US" sz="17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倍</a:t>
            </a:r>
            <a:r>
              <a:rPr lang="zh-HK" altLang="en-US" sz="17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！</a:t>
            </a:r>
          </a:p>
        </p:txBody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71379112-E0D2-291D-2502-DDEEB8B17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34" y="4612336"/>
            <a:ext cx="3411854" cy="1148080"/>
          </a:xfrm>
          <a:prstGeom prst="upArrowCallout">
            <a:avLst>
              <a:gd name="adj1" fmla="val 53602"/>
              <a:gd name="adj2" fmla="val 80211"/>
              <a:gd name="adj3" fmla="val 18806"/>
              <a:gd name="adj4" fmla="val 69884"/>
            </a:avLst>
          </a:prstGeom>
          <a:solidFill>
            <a:srgbClr val="FEB4AC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>
              <a:spcBef>
                <a:spcPts val="601"/>
              </a:spcBef>
              <a:spcAft>
                <a:spcPts val="601"/>
              </a:spcAft>
            </a:pPr>
            <a:r>
              <a:rPr lang="zh-CN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每年基本储蓄</a:t>
            </a:r>
            <a:r>
              <a:rPr lang="en-US" altLang="zh-CN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CN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br>
              <a:rPr lang="en-US" sz="1200" u="sng" kern="100" dirty="0">
                <a:solidFill>
                  <a:srgbClr val="D312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CN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年合共储蓄 </a:t>
            </a:r>
            <a:r>
              <a:rPr lang="zh-CN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CN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D872A12E-D5C5-6DC8-D075-EBDC42C2F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8262" y="4426557"/>
            <a:ext cx="3023340" cy="1289899"/>
          </a:xfrm>
          <a:prstGeom prst="upArrowCallout">
            <a:avLst>
              <a:gd name="adj1" fmla="val 42419"/>
              <a:gd name="adj2" fmla="val 64662"/>
              <a:gd name="adj3" fmla="val 27083"/>
              <a:gd name="adj4" fmla="val 60583"/>
            </a:avLst>
          </a:prstGeom>
          <a:solidFill>
            <a:srgbClr val="EAE1BA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>
              <a:spcBef>
                <a:spcPts val="601"/>
              </a:spcBef>
            </a:pPr>
            <a:r>
              <a:rPr lang="zh-TW" altLang="en-US" sz="13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</a:t>
            </a:r>
            <a:r>
              <a:rPr lang="en-US" sz="13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</a:t>
            </a:r>
            <a:r>
              <a:rPr lang="zh-TW" altLang="en-US" sz="13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岁选择退保或传承，便有</a:t>
            </a:r>
            <a:r>
              <a:rPr lang="zh-TW" altLang="en-US" sz="13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UnicodeMS"/>
              </a:rPr>
              <a:t>一笔</a:t>
            </a:r>
            <a:br>
              <a:rPr lang="en-US" altLang="zh-TW" sz="13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UnicodeMS"/>
              </a:rPr>
            </a:br>
            <a:r>
              <a:rPr lang="zh-TW" altLang="en-US" sz="13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 </a:t>
            </a:r>
            <a:r>
              <a:rPr lang="en-US" altLang="zh-TW" sz="13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en-US" sz="13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3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3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3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3" name="AutoShape 37">
            <a:extLst>
              <a:ext uri="{FF2B5EF4-FFF2-40B4-BE49-F238E27FC236}">
                <a16:creationId xmlns:a16="http://schemas.microsoft.com/office/drawing/2014/main" id="{BCDD93B2-9368-9212-60A2-9C7136905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8143" y="4480256"/>
            <a:ext cx="3775710" cy="1271595"/>
          </a:xfrm>
          <a:prstGeom prst="upArrowCallout">
            <a:avLst>
              <a:gd name="adj1" fmla="val 60274"/>
              <a:gd name="adj2" fmla="val 98282"/>
              <a:gd name="adj3" fmla="val 24292"/>
              <a:gd name="adj4" fmla="val 60394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/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可于</a:t>
            </a:r>
            <a: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60</a:t>
            </a:r>
            <a:r>
              <a:rPr 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-90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岁每年提取</a:t>
            </a:r>
            <a: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{ 31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年合共提取</a:t>
            </a:r>
            <a: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 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}</a:t>
            </a:r>
            <a:br>
              <a:rPr lang="en-US" sz="12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sz="11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1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每年到外地旅游及作退休后开支的一部份</a:t>
            </a:r>
            <a:r>
              <a:rPr lang="en-US" sz="11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90540CA-2B62-BD2B-A046-9F5672E61D80}"/>
              </a:ext>
            </a:extLst>
          </p:cNvPr>
          <p:cNvSpPr txBox="1"/>
          <p:nvPr/>
        </p:nvSpPr>
        <p:spPr>
          <a:xfrm>
            <a:off x="7133383" y="2867674"/>
            <a:ext cx="98283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HK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 </a:t>
            </a:r>
            <a:r>
              <a:rPr lang="zh-TW" altLang="en-US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endParaRPr lang="zh-HK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49BBA6D-AE71-B6A3-81F8-C5300DEA710A}"/>
              </a:ext>
            </a:extLst>
          </p:cNvPr>
          <p:cNvSpPr txBox="1"/>
          <p:nvPr/>
        </p:nvSpPr>
        <p:spPr>
          <a:xfrm>
            <a:off x="10173757" y="70001"/>
            <a:ext cx="1943305" cy="55399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实际回报年利率</a:t>
            </a:r>
            <a:br>
              <a:rPr lang="en-US" altLang="zh-TW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5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endParaRPr lang="zh-HK" altLang="en-US" sz="15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0B3EEF39-3B43-ECB2-B979-17C3093982A0}"/>
              </a:ext>
            </a:extLst>
          </p:cNvPr>
          <p:cNvSpPr txBox="1"/>
          <p:nvPr/>
        </p:nvSpPr>
        <p:spPr>
          <a:xfrm>
            <a:off x="6096000" y="6457890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*以美元兑</a:t>
            </a:r>
            <a:r>
              <a:rPr lang="zh-TW" altLang="en-US" sz="10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汇率</a:t>
            </a:r>
            <a:r>
              <a:rPr lang="en-US" altLang="zh-HK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6.8</a:t>
            </a: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计算*</a:t>
            </a:r>
            <a:br>
              <a:rPr lang="en-US" altLang="zh-HK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以上数据只供参考, 详情请参阅建议书</a:t>
            </a:r>
          </a:p>
        </p:txBody>
      </p:sp>
    </p:spTree>
    <p:extLst>
      <p:ext uri="{BB962C8B-B14F-4D97-AF65-F5344CB8AC3E}">
        <p14:creationId xmlns:p14="http://schemas.microsoft.com/office/powerpoint/2010/main" val="1383579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7EB93-DAE4-FDE3-E5BD-F60C313DE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28">
            <a:extLst>
              <a:ext uri="{FF2B5EF4-FFF2-40B4-BE49-F238E27FC236}">
                <a16:creationId xmlns:a16="http://schemas.microsoft.com/office/drawing/2014/main" id="{5FEF901B-8D42-66BE-3A61-0F7F7281D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982" y="920217"/>
            <a:ext cx="854075" cy="631826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83B83B"/>
          </a:solidFill>
          <a:ln w="9525">
            <a:noFill/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C1596562-F7BC-D2C3-57CC-1CFC5748969B}"/>
              </a:ext>
            </a:extLst>
          </p:cNvPr>
          <p:cNvGrpSpPr/>
          <p:nvPr/>
        </p:nvGrpSpPr>
        <p:grpSpPr>
          <a:xfrm>
            <a:off x="1192019" y="2324333"/>
            <a:ext cx="1492008" cy="854470"/>
            <a:chOff x="950753" y="2216539"/>
            <a:chExt cx="1492008" cy="854470"/>
          </a:xfrm>
        </p:grpSpPr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AA9C7F6F-EFA4-12CE-B38A-1940E6DB7D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139441" y="2216539"/>
              <a:ext cx="520700" cy="413385"/>
            </a:xfrm>
            <a:prstGeom prst="upArrow">
              <a:avLst>
                <a:gd name="adj1" fmla="val 49870"/>
                <a:gd name="adj2" fmla="val 61069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rot="0" vert="eaVert" wrap="square" lIns="91440" tIns="45721" rIns="91440" bIns="45721" anchor="t" anchorCtr="0" upright="1">
              <a:noAutofit/>
            </a:bodyPr>
            <a:lstStyle/>
            <a:p>
              <a:endParaRPr lang="zh-TW" altLang="en-US" sz="180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AutoShape 9">
              <a:extLst>
                <a:ext uri="{FF2B5EF4-FFF2-40B4-BE49-F238E27FC236}">
                  <a16:creationId xmlns:a16="http://schemas.microsoft.com/office/drawing/2014/main" id="{7B38D1F4-81AC-DB6F-89F8-23A7FCC9AF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809367" y="2226064"/>
              <a:ext cx="520700" cy="413385"/>
            </a:xfrm>
            <a:prstGeom prst="upArrow">
              <a:avLst>
                <a:gd name="adj1" fmla="val 49870"/>
                <a:gd name="adj2" fmla="val 61069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rot="0" vert="eaVert" wrap="square" lIns="91440" tIns="45721" rIns="91440" bIns="45721" anchor="t" anchorCtr="0" upright="1">
              <a:noAutofit/>
            </a:bodyPr>
            <a:lstStyle/>
            <a:p>
              <a:endParaRPr lang="zh-TW" altLang="en-US" sz="180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962C22D-1659-A7CF-EACB-D05C6A048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757" y="2750797"/>
              <a:ext cx="468000" cy="320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6475CCD1-F88E-9995-AF32-C2C371564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974761" y="2742347"/>
              <a:ext cx="468000" cy="320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BA374501-9E27-873B-9A3C-070216C02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50753" y="2747999"/>
              <a:ext cx="468000" cy="320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3F31AD2F-0F92-FC56-8377-E3A775E95CFF}"/>
              </a:ext>
            </a:extLst>
          </p:cNvPr>
          <p:cNvCxnSpPr>
            <a:cxnSpLocks/>
          </p:cNvCxnSpPr>
          <p:nvPr/>
        </p:nvCxnSpPr>
        <p:spPr>
          <a:xfrm>
            <a:off x="720956" y="3409413"/>
            <a:ext cx="11160000" cy="507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51F5A4F-4C13-BECC-2248-06E9311E20CE}"/>
              </a:ext>
            </a:extLst>
          </p:cNvPr>
          <p:cNvSpPr/>
          <p:nvPr/>
        </p:nvSpPr>
        <p:spPr>
          <a:xfrm>
            <a:off x="1003455" y="3277202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46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544080-C715-2347-B6A1-714634FAA9CD}"/>
              </a:ext>
            </a:extLst>
          </p:cNvPr>
          <p:cNvSpPr/>
          <p:nvPr/>
        </p:nvSpPr>
        <p:spPr>
          <a:xfrm>
            <a:off x="2328053" y="3277202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D395DD7-05E2-1EC3-19AB-2210F0219885}"/>
              </a:ext>
            </a:extLst>
          </p:cNvPr>
          <p:cNvSpPr txBox="1"/>
          <p:nvPr/>
        </p:nvSpPr>
        <p:spPr>
          <a:xfrm>
            <a:off x="652300" y="6272432"/>
            <a:ext cx="108873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环宇盈活储蓄计划</a:t>
            </a:r>
            <a:r>
              <a:rPr lang="zh-HK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（5年缴费），一生合共提取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美元 </a:t>
            </a:r>
            <a:r>
              <a:rPr lang="en-US" altLang="zh-HK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XXX 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500" b="1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TW" sz="1500" b="1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XXX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HK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，为已缴储蓄成本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HK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XXX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倍</a:t>
            </a:r>
            <a:r>
              <a:rPr lang="en-US" altLang="zh-HK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 </a:t>
            </a:r>
            <a:endParaRPr lang="zh-HK" altLang="en-US" sz="15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4AC0BBDC-6F9E-F556-5B1F-9BC45413A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63" y="4261225"/>
            <a:ext cx="3350962" cy="1066030"/>
          </a:xfrm>
          <a:prstGeom prst="upArrowCallout">
            <a:avLst>
              <a:gd name="adj1" fmla="val 124389"/>
              <a:gd name="adj2" fmla="val 129170"/>
              <a:gd name="adj3" fmla="val 18806"/>
              <a:gd name="adj4" fmla="val 73221"/>
            </a:avLst>
          </a:prstGeom>
          <a:solidFill>
            <a:srgbClr val="FEB4AC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>
              <a:spcBef>
                <a:spcPts val="601"/>
              </a:spcBef>
              <a:spcAft>
                <a:spcPts val="601"/>
              </a:spcAft>
            </a:pPr>
            <a:r>
              <a:rPr lang="zh-CN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每年基本储蓄</a:t>
            </a:r>
            <a:r>
              <a:rPr lang="zh-CN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CN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br>
              <a:rPr lang="en-US" sz="1200" b="1" u="sng" kern="100" dirty="0">
                <a:solidFill>
                  <a:srgbClr val="D312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CN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年合共储蓄</a:t>
            </a:r>
            <a:r>
              <a:rPr lang="zh-CN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CN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ED559680-E1AE-1EBC-209A-72C26048D09C}"/>
              </a:ext>
            </a:extLst>
          </p:cNvPr>
          <p:cNvCxnSpPr>
            <a:cxnSpLocks/>
          </p:cNvCxnSpPr>
          <p:nvPr/>
        </p:nvCxnSpPr>
        <p:spPr>
          <a:xfrm>
            <a:off x="712315" y="3943881"/>
            <a:ext cx="11160000" cy="507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8F54CA24-6A85-AB03-8D2E-D7E8B13FFD65}"/>
              </a:ext>
            </a:extLst>
          </p:cNvPr>
          <p:cNvSpPr/>
          <p:nvPr/>
        </p:nvSpPr>
        <p:spPr>
          <a:xfrm>
            <a:off x="1003455" y="3829608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5670409-32CB-D8E7-1CFE-960D162A16D7}"/>
              </a:ext>
            </a:extLst>
          </p:cNvPr>
          <p:cNvSpPr/>
          <p:nvPr/>
        </p:nvSpPr>
        <p:spPr>
          <a:xfrm>
            <a:off x="2332434" y="3827434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C695BE-1346-DF1B-09ED-F07361BF33B0}"/>
              </a:ext>
            </a:extLst>
          </p:cNvPr>
          <p:cNvSpPr/>
          <p:nvPr/>
        </p:nvSpPr>
        <p:spPr>
          <a:xfrm>
            <a:off x="33584" y="3284078"/>
            <a:ext cx="674993" cy="264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投保人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7D53B3-C321-CDBC-ADE2-C05D3413BC62}"/>
              </a:ext>
            </a:extLst>
          </p:cNvPr>
          <p:cNvSpPr/>
          <p:nvPr/>
        </p:nvSpPr>
        <p:spPr>
          <a:xfrm>
            <a:off x="33584" y="3787563"/>
            <a:ext cx="674993" cy="264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女儿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8605541-8AAD-940A-4BAF-DC6D3A651284}"/>
              </a:ext>
            </a:extLst>
          </p:cNvPr>
          <p:cNvGrpSpPr/>
          <p:nvPr/>
        </p:nvGrpSpPr>
        <p:grpSpPr>
          <a:xfrm>
            <a:off x="4120388" y="3277202"/>
            <a:ext cx="1440000" cy="264425"/>
            <a:chOff x="4854483" y="3277202"/>
            <a:chExt cx="1440000" cy="26442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BE2E585-6115-37CD-97DF-729369875BEA}"/>
                </a:ext>
              </a:extLst>
            </p:cNvPr>
            <p:cNvSpPr/>
            <p:nvPr/>
          </p:nvSpPr>
          <p:spPr>
            <a:xfrm>
              <a:off x="4854483" y="3277202"/>
              <a:ext cx="1440000" cy="264425"/>
            </a:xfrm>
            <a:prstGeom prst="rect">
              <a:avLst/>
            </a:prstGeom>
            <a:solidFill>
              <a:srgbClr val="9CCB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60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           </a:t>
              </a:r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85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</a:t>
              </a:r>
              <a:endParaRPr lang="zh-HK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C1929B1B-EF86-84F8-E788-9EE916F9AED8}"/>
                </a:ext>
              </a:extLst>
            </p:cNvPr>
            <p:cNvCxnSpPr/>
            <p:nvPr/>
          </p:nvCxnSpPr>
          <p:spPr>
            <a:xfrm>
              <a:off x="5382533" y="3409413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F662B578-A8B9-B484-BBF9-C9B0525CD6F2}"/>
              </a:ext>
            </a:extLst>
          </p:cNvPr>
          <p:cNvCxnSpPr/>
          <p:nvPr/>
        </p:nvCxnSpPr>
        <p:spPr>
          <a:xfrm>
            <a:off x="5683162" y="3949694"/>
            <a:ext cx="144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圖片 20">
            <a:extLst>
              <a:ext uri="{FF2B5EF4-FFF2-40B4-BE49-F238E27FC236}">
                <a16:creationId xmlns:a16="http://schemas.microsoft.com/office/drawing/2014/main" id="{F77F7C01-CEDD-7633-19C0-1902382CF23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7960" r="3980" b="5164"/>
          <a:stretch>
            <a:fillRect/>
          </a:stretch>
        </p:blipFill>
        <p:spPr bwMode="auto">
          <a:xfrm>
            <a:off x="4175898" y="1612015"/>
            <a:ext cx="1440000" cy="1472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AutoShape 28">
            <a:extLst>
              <a:ext uri="{FF2B5EF4-FFF2-40B4-BE49-F238E27FC236}">
                <a16:creationId xmlns:a16="http://schemas.microsoft.com/office/drawing/2014/main" id="{12FCDD3B-F4A6-0E55-E808-B5C0030FF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7540" y="910443"/>
            <a:ext cx="854075" cy="631826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83B83B"/>
          </a:solidFill>
          <a:ln w="9525">
            <a:noFill/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4205618-53CD-969B-B578-2D07C9688002}"/>
              </a:ext>
            </a:extLst>
          </p:cNvPr>
          <p:cNvSpPr/>
          <p:nvPr/>
        </p:nvSpPr>
        <p:spPr>
          <a:xfrm>
            <a:off x="10236611" y="3844448"/>
            <a:ext cx="788446" cy="264425"/>
          </a:xfrm>
          <a:prstGeom prst="rect">
            <a:avLst/>
          </a:prstGeom>
          <a:solidFill>
            <a:srgbClr val="DFD3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0C8C07C4-49B5-A229-1CF6-B3CAB5996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162" y="4233449"/>
            <a:ext cx="4169309" cy="996467"/>
          </a:xfrm>
          <a:prstGeom prst="upArrowCallout">
            <a:avLst>
              <a:gd name="adj1" fmla="val 49215"/>
              <a:gd name="adj2" fmla="val 47893"/>
              <a:gd name="adj3" fmla="val 18806"/>
              <a:gd name="adj4" fmla="val 66485"/>
            </a:avLst>
          </a:prstGeom>
          <a:solidFill>
            <a:srgbClr val="C5E0B4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/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受保人可于</a:t>
            </a:r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XX-XX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岁每年提取</a:t>
            </a:r>
            <a: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{ XX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年合共提取</a:t>
            </a:r>
            <a: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en-US" altLang="zh-HK" sz="1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}</a:t>
            </a:r>
            <a:endParaRPr lang="zh-TW" altLang="en-US" sz="1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AEA1D6A-8401-E2CF-9941-6A163C12992D}"/>
              </a:ext>
            </a:extLst>
          </p:cNvPr>
          <p:cNvSpPr txBox="1"/>
          <p:nvPr/>
        </p:nvSpPr>
        <p:spPr>
          <a:xfrm>
            <a:off x="5413570" y="2284776"/>
            <a:ext cx="771908" cy="3231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HK" sz="15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 </a:t>
            </a:r>
            <a:r>
              <a:rPr lang="zh-TW" altLang="en-US" sz="15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endParaRPr lang="zh-HK" alt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F1E7904-A789-4B2C-E6F1-C5CCA1EDE5E9}"/>
              </a:ext>
            </a:extLst>
          </p:cNvPr>
          <p:cNvSpPr txBox="1"/>
          <p:nvPr/>
        </p:nvSpPr>
        <p:spPr>
          <a:xfrm>
            <a:off x="321734" y="279400"/>
            <a:ext cx="71753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岁先生 环宇盈活储蓄计划（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年缴费）</a:t>
            </a:r>
            <a:endParaRPr lang="zh-HK" altLang="en-US" sz="3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C20FEBC0-9FC8-1D8B-1D3C-353027D761E8}"/>
              </a:ext>
            </a:extLst>
          </p:cNvPr>
          <p:cNvGrpSpPr/>
          <p:nvPr/>
        </p:nvGrpSpPr>
        <p:grpSpPr>
          <a:xfrm>
            <a:off x="4119574" y="3804401"/>
            <a:ext cx="1440000" cy="264425"/>
            <a:chOff x="4854483" y="3277202"/>
            <a:chExt cx="1440000" cy="26442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E826961-88A6-4FD0-86E7-469B3AF51715}"/>
                </a:ext>
              </a:extLst>
            </p:cNvPr>
            <p:cNvSpPr/>
            <p:nvPr/>
          </p:nvSpPr>
          <p:spPr>
            <a:xfrm>
              <a:off x="4854483" y="3277202"/>
              <a:ext cx="1440000" cy="264425"/>
            </a:xfrm>
            <a:prstGeom prst="rect">
              <a:avLst/>
            </a:prstGeom>
            <a:solidFill>
              <a:srgbClr val="9CCB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24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           </a:t>
              </a:r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49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</a:t>
              </a:r>
              <a:endParaRPr lang="zh-HK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D4577682-93C1-FDD5-8ECB-75898A900ACA}"/>
                </a:ext>
              </a:extLst>
            </p:cNvPr>
            <p:cNvCxnSpPr/>
            <p:nvPr/>
          </p:nvCxnSpPr>
          <p:spPr>
            <a:xfrm>
              <a:off x="5382533" y="3409413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圖片 36">
            <a:extLst>
              <a:ext uri="{FF2B5EF4-FFF2-40B4-BE49-F238E27FC236}">
                <a16:creationId xmlns:a16="http://schemas.microsoft.com/office/drawing/2014/main" id="{9BBF0E0D-A510-9568-FCB8-8BCB48F7037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7960" r="3980" b="5164"/>
          <a:stretch>
            <a:fillRect/>
          </a:stretch>
        </p:blipFill>
        <p:spPr bwMode="auto">
          <a:xfrm>
            <a:off x="7137031" y="1630404"/>
            <a:ext cx="1440000" cy="1472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AutoShape 28">
            <a:extLst>
              <a:ext uri="{FF2B5EF4-FFF2-40B4-BE49-F238E27FC236}">
                <a16:creationId xmlns:a16="http://schemas.microsoft.com/office/drawing/2014/main" id="{6E598539-2174-5D91-360A-06DC86FD2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673" y="928832"/>
            <a:ext cx="854075" cy="631826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83B83B"/>
          </a:solidFill>
          <a:ln w="9525">
            <a:noFill/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8C4CC736-A5EE-EC93-AB01-01AE4836AD03}"/>
              </a:ext>
            </a:extLst>
          </p:cNvPr>
          <p:cNvSpPr txBox="1"/>
          <p:nvPr/>
        </p:nvSpPr>
        <p:spPr>
          <a:xfrm>
            <a:off x="8447392" y="2296309"/>
            <a:ext cx="771908" cy="3231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HK" sz="15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 </a:t>
            </a:r>
            <a:r>
              <a:rPr lang="zh-TW" altLang="en-US" sz="15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endParaRPr lang="zh-HK" alt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004F12B-B92B-4376-1131-4736CCFE97BB}"/>
              </a:ext>
            </a:extLst>
          </p:cNvPr>
          <p:cNvCxnSpPr/>
          <p:nvPr/>
        </p:nvCxnSpPr>
        <p:spPr>
          <a:xfrm>
            <a:off x="7273905" y="3955001"/>
            <a:ext cx="36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E09C64-F624-66B6-F456-6BF577D49EC1}"/>
              </a:ext>
            </a:extLst>
          </p:cNvPr>
          <p:cNvGrpSpPr/>
          <p:nvPr/>
        </p:nvGrpSpPr>
        <p:grpSpPr>
          <a:xfrm>
            <a:off x="7143676" y="3804414"/>
            <a:ext cx="1440000" cy="264425"/>
            <a:chOff x="4854483" y="3277202"/>
            <a:chExt cx="1440000" cy="264425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FA08D6E-E5C7-84DD-B7E6-6ABAAFD78FF6}"/>
                </a:ext>
              </a:extLst>
            </p:cNvPr>
            <p:cNvSpPr/>
            <p:nvPr/>
          </p:nvSpPr>
          <p:spPr>
            <a:xfrm>
              <a:off x="4854483" y="3277202"/>
              <a:ext cx="1440000" cy="264425"/>
            </a:xfrm>
            <a:prstGeom prst="rect">
              <a:avLst/>
            </a:prstGeom>
            <a:solidFill>
              <a:srgbClr val="9CCB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60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           </a:t>
              </a:r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85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</a:t>
              </a:r>
              <a:endParaRPr lang="zh-HK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48" name="直線單箭頭接點 47">
              <a:extLst>
                <a:ext uri="{FF2B5EF4-FFF2-40B4-BE49-F238E27FC236}">
                  <a16:creationId xmlns:a16="http://schemas.microsoft.com/office/drawing/2014/main" id="{85FED7D5-DEC5-5685-C5AA-F5DB923BF97B}"/>
                </a:ext>
              </a:extLst>
            </p:cNvPr>
            <p:cNvCxnSpPr/>
            <p:nvPr/>
          </p:nvCxnSpPr>
          <p:spPr>
            <a:xfrm>
              <a:off x="5382533" y="3409413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D6C160CA-6955-7C70-EB5B-5D5B1E2635D8}"/>
              </a:ext>
            </a:extLst>
          </p:cNvPr>
          <p:cNvSpPr/>
          <p:nvPr/>
        </p:nvSpPr>
        <p:spPr>
          <a:xfrm>
            <a:off x="1192019" y="5407611"/>
            <a:ext cx="4317091" cy="719475"/>
          </a:xfrm>
          <a:prstGeom prst="rect">
            <a:avLst/>
          </a:prstGeom>
          <a:solidFill>
            <a:srgbClr val="C5E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3DD99B65-126A-2A9F-9796-6A9AB63C9B99}"/>
              </a:ext>
            </a:extLst>
          </p:cNvPr>
          <p:cNvSpPr txBox="1"/>
          <p:nvPr/>
        </p:nvSpPr>
        <p:spPr>
          <a:xfrm>
            <a:off x="10173757" y="70001"/>
            <a:ext cx="1943305" cy="55399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实际回报年利率</a:t>
            </a:r>
            <a:br>
              <a:rPr lang="en-US" altLang="zh-TW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5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endParaRPr lang="zh-HK" altLang="en-US" sz="1500" dirty="0"/>
          </a:p>
        </p:txBody>
      </p:sp>
      <p:sp>
        <p:nvSpPr>
          <p:cNvPr id="52" name="箭號: 向上 51">
            <a:extLst>
              <a:ext uri="{FF2B5EF4-FFF2-40B4-BE49-F238E27FC236}">
                <a16:creationId xmlns:a16="http://schemas.microsoft.com/office/drawing/2014/main" id="{96C815E1-BA21-D4E8-1168-A3652F4A078F}"/>
              </a:ext>
            </a:extLst>
          </p:cNvPr>
          <p:cNvSpPr/>
          <p:nvPr/>
        </p:nvSpPr>
        <p:spPr>
          <a:xfrm>
            <a:off x="4277349" y="4247962"/>
            <a:ext cx="1198358" cy="1244604"/>
          </a:xfrm>
          <a:prstGeom prst="upArrow">
            <a:avLst/>
          </a:prstGeom>
          <a:solidFill>
            <a:srgbClr val="C5E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>
              <a:solidFill>
                <a:srgbClr val="C5E0B4"/>
              </a:solidFill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1C844BB0-CE1A-A5E1-9D5A-59931BF20A78}"/>
              </a:ext>
            </a:extLst>
          </p:cNvPr>
          <p:cNvSpPr txBox="1"/>
          <p:nvPr/>
        </p:nvSpPr>
        <p:spPr>
          <a:xfrm>
            <a:off x="1335968" y="5560506"/>
            <a:ext cx="40291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投保人可于</a:t>
            </a:r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XX-XX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岁每年提取</a:t>
            </a:r>
            <a:r>
              <a:rPr lang="zh-TW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{ XX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年合共提取</a:t>
            </a:r>
            <a: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en-US" altLang="zh-HK" sz="1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}</a:t>
            </a:r>
            <a:endParaRPr lang="zh-TW" altLang="en-US" sz="1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6FF2D61-5AB2-896B-0589-F09C54C9EB13}"/>
              </a:ext>
            </a:extLst>
          </p:cNvPr>
          <p:cNvSpPr/>
          <p:nvPr/>
        </p:nvSpPr>
        <p:spPr>
          <a:xfrm>
            <a:off x="8232748" y="5399392"/>
            <a:ext cx="3648208" cy="709842"/>
          </a:xfrm>
          <a:prstGeom prst="rect">
            <a:avLst/>
          </a:prstGeom>
          <a:solidFill>
            <a:srgbClr val="EAE1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1"/>
              </a:spcBef>
            </a:pPr>
            <a:r>
              <a:rPr lang="zh-TW" altLang="en-US" sz="1200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受保人</a:t>
            </a:r>
            <a:r>
              <a:rPr lang="en-US" altLang="zh-HK" sz="1200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</a:t>
            </a:r>
            <a:r>
              <a:rPr lang="zh-TW" altLang="en-US" sz="1200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岁选择退保或传承，便有</a:t>
            </a:r>
            <a:r>
              <a:rPr lang="zh-TW" altLang="en-US" sz="1200" kern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UnicodeMS"/>
              </a:rPr>
              <a:t>一笔</a:t>
            </a:r>
            <a:br>
              <a:rPr lang="en-US" altLang="zh-TW" sz="1200" kern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UnicodeMS"/>
              </a:rPr>
            </a:br>
            <a:r>
              <a:rPr lang="zh-TW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XX(</a:t>
            </a:r>
            <a:r>
              <a:rPr lang="en-US" altLang="zh-HK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TW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XX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6" name="箭號: 向上 55">
            <a:extLst>
              <a:ext uri="{FF2B5EF4-FFF2-40B4-BE49-F238E27FC236}">
                <a16:creationId xmlns:a16="http://schemas.microsoft.com/office/drawing/2014/main" id="{DCC347BE-EC62-73D8-5069-F8D964424341}"/>
              </a:ext>
            </a:extLst>
          </p:cNvPr>
          <p:cNvSpPr/>
          <p:nvPr/>
        </p:nvSpPr>
        <p:spPr>
          <a:xfrm>
            <a:off x="10031655" y="4220713"/>
            <a:ext cx="1198358" cy="1244604"/>
          </a:xfrm>
          <a:prstGeom prst="upArrow">
            <a:avLst/>
          </a:prstGeom>
          <a:solidFill>
            <a:srgbClr val="EAE1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>
              <a:solidFill>
                <a:srgbClr val="C5E0B4"/>
              </a:solidFill>
            </a:endParaRPr>
          </a:p>
        </p:txBody>
      </p:sp>
      <p:pic>
        <p:nvPicPr>
          <p:cNvPr id="58" name="圖片 57">
            <a:extLst>
              <a:ext uri="{FF2B5EF4-FFF2-40B4-BE49-F238E27FC236}">
                <a16:creationId xmlns:a16="http://schemas.microsoft.com/office/drawing/2014/main" id="{33D4FB01-D484-EB14-F58A-5C7BF5EAE29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7960" r="3980" b="5164"/>
          <a:stretch>
            <a:fillRect/>
          </a:stretch>
        </p:blipFill>
        <p:spPr bwMode="auto">
          <a:xfrm>
            <a:off x="9910834" y="1689452"/>
            <a:ext cx="1440000" cy="1472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B939374-73FF-1819-57E3-FF116B943B2B}"/>
              </a:ext>
            </a:extLst>
          </p:cNvPr>
          <p:cNvSpPr txBox="1"/>
          <p:nvPr/>
        </p:nvSpPr>
        <p:spPr>
          <a:xfrm>
            <a:off x="6096000" y="6457890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*以美元兑</a:t>
            </a:r>
            <a:r>
              <a:rPr lang="zh-TW" altLang="en-US" sz="10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汇率</a:t>
            </a:r>
            <a:r>
              <a:rPr lang="en-US" altLang="zh-HK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6.8</a:t>
            </a: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计算*</a:t>
            </a:r>
            <a:br>
              <a:rPr lang="en-US" altLang="zh-HK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以上数据只供参考, 详情请参阅建议书</a:t>
            </a:r>
          </a:p>
        </p:txBody>
      </p:sp>
    </p:spTree>
    <p:extLst>
      <p:ext uri="{BB962C8B-B14F-4D97-AF65-F5344CB8AC3E}">
        <p14:creationId xmlns:p14="http://schemas.microsoft.com/office/powerpoint/2010/main" val="2172699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7EB93-DAE4-FDE3-E5BD-F60C313DE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1D0F7EF7-A986-658A-D3D5-410ABA629A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7960" r="3980" b="5164"/>
          <a:stretch>
            <a:fillRect/>
          </a:stretch>
        </p:blipFill>
        <p:spPr bwMode="auto">
          <a:xfrm>
            <a:off x="9427024" y="1362628"/>
            <a:ext cx="1800000" cy="1840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AutoShape 28">
            <a:extLst>
              <a:ext uri="{FF2B5EF4-FFF2-40B4-BE49-F238E27FC236}">
                <a16:creationId xmlns:a16="http://schemas.microsoft.com/office/drawing/2014/main" id="{5FEF901B-8D42-66BE-3A61-0F7F7281D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6131" y="748767"/>
            <a:ext cx="854075" cy="631826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83B83B"/>
          </a:solidFill>
          <a:ln w="9525">
            <a:noFill/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C1596562-F7BC-D2C3-57CC-1CFC5748969B}"/>
              </a:ext>
            </a:extLst>
          </p:cNvPr>
          <p:cNvGrpSpPr/>
          <p:nvPr/>
        </p:nvGrpSpPr>
        <p:grpSpPr>
          <a:xfrm>
            <a:off x="1192019" y="2324333"/>
            <a:ext cx="1492008" cy="854470"/>
            <a:chOff x="950753" y="2216539"/>
            <a:chExt cx="1492008" cy="854470"/>
          </a:xfrm>
        </p:grpSpPr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AA9C7F6F-EFA4-12CE-B38A-1940E6DB7D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139441" y="2216539"/>
              <a:ext cx="520700" cy="413385"/>
            </a:xfrm>
            <a:prstGeom prst="upArrow">
              <a:avLst>
                <a:gd name="adj1" fmla="val 49870"/>
                <a:gd name="adj2" fmla="val 61069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rot="0" vert="eaVert" wrap="square" lIns="91440" tIns="45721" rIns="91440" bIns="45721" anchor="t" anchorCtr="0" upright="1">
              <a:noAutofit/>
            </a:bodyPr>
            <a:lstStyle/>
            <a:p>
              <a:endParaRPr lang="zh-TW" altLang="en-US" sz="180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AutoShape 9">
              <a:extLst>
                <a:ext uri="{FF2B5EF4-FFF2-40B4-BE49-F238E27FC236}">
                  <a16:creationId xmlns:a16="http://schemas.microsoft.com/office/drawing/2014/main" id="{7B38D1F4-81AC-DB6F-89F8-23A7FCC9AF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809367" y="2226064"/>
              <a:ext cx="520700" cy="413385"/>
            </a:xfrm>
            <a:prstGeom prst="upArrow">
              <a:avLst>
                <a:gd name="adj1" fmla="val 49870"/>
                <a:gd name="adj2" fmla="val 61069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rot="0" vert="eaVert" wrap="square" lIns="91440" tIns="45721" rIns="91440" bIns="45721" anchor="t" anchorCtr="0" upright="1">
              <a:noAutofit/>
            </a:bodyPr>
            <a:lstStyle/>
            <a:p>
              <a:endParaRPr lang="zh-TW" altLang="en-US" sz="180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962C22D-1659-A7CF-EACB-D05C6A048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62757" y="2750797"/>
              <a:ext cx="468000" cy="320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6475CCD1-F88E-9995-AF32-C2C371564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74761" y="2742347"/>
              <a:ext cx="468000" cy="320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BA374501-9E27-873B-9A3C-070216C02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950753" y="2747999"/>
              <a:ext cx="468000" cy="320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3F31AD2F-0F92-FC56-8377-E3A775E95CFF}"/>
              </a:ext>
            </a:extLst>
          </p:cNvPr>
          <p:cNvCxnSpPr>
            <a:cxnSpLocks/>
          </p:cNvCxnSpPr>
          <p:nvPr/>
        </p:nvCxnSpPr>
        <p:spPr>
          <a:xfrm>
            <a:off x="720956" y="3409413"/>
            <a:ext cx="11160000" cy="507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51F5A4F-4C13-BECC-2248-06E9311E20CE}"/>
              </a:ext>
            </a:extLst>
          </p:cNvPr>
          <p:cNvSpPr/>
          <p:nvPr/>
        </p:nvSpPr>
        <p:spPr>
          <a:xfrm>
            <a:off x="1003455" y="3277202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54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544080-C715-2347-B6A1-714634FAA9CD}"/>
              </a:ext>
            </a:extLst>
          </p:cNvPr>
          <p:cNvSpPr/>
          <p:nvPr/>
        </p:nvSpPr>
        <p:spPr>
          <a:xfrm>
            <a:off x="2328053" y="3277202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58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E2E585-6115-37CD-97DF-729369875BEA}"/>
              </a:ext>
            </a:extLst>
          </p:cNvPr>
          <p:cNvSpPr/>
          <p:nvPr/>
        </p:nvSpPr>
        <p:spPr>
          <a:xfrm>
            <a:off x="4854483" y="3277202"/>
            <a:ext cx="3154983" cy="264425"/>
          </a:xfrm>
          <a:prstGeom prst="rect">
            <a:avLst/>
          </a:prstGeom>
          <a:solidFill>
            <a:srgbClr val="9CC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65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                                              </a:t>
            </a:r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90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E6E80DF-A6DC-3B69-EDDC-9023A00A3B4A}"/>
              </a:ext>
            </a:extLst>
          </p:cNvPr>
          <p:cNvSpPr/>
          <p:nvPr/>
        </p:nvSpPr>
        <p:spPr>
          <a:xfrm>
            <a:off x="9901760" y="3304910"/>
            <a:ext cx="788446" cy="264425"/>
          </a:xfrm>
          <a:prstGeom prst="rect">
            <a:avLst/>
          </a:prstGeom>
          <a:solidFill>
            <a:srgbClr val="DFD3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90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D395DD7-05E2-1EC3-19AB-2210F0219885}"/>
              </a:ext>
            </a:extLst>
          </p:cNvPr>
          <p:cNvSpPr txBox="1"/>
          <p:nvPr/>
        </p:nvSpPr>
        <p:spPr>
          <a:xfrm>
            <a:off x="663146" y="5940805"/>
            <a:ext cx="108873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环宇盈活储蓄计划</a:t>
            </a:r>
            <a:r>
              <a:rPr lang="zh-HK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（5年缴费），一生合共提取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美元 (</a:t>
            </a:r>
            <a:r>
              <a:rPr lang="zh-TW" altLang="en-US" sz="1500" b="1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HK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，为已缴储蓄成本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HK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3.41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倍</a:t>
            </a:r>
            <a:endParaRPr lang="zh-HK" altLang="en-US" sz="15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4AC0BBDC-6F9E-F556-5B1F-9BC45413A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828" y="4291047"/>
            <a:ext cx="3498390" cy="996467"/>
          </a:xfrm>
          <a:prstGeom prst="upArrowCallout">
            <a:avLst>
              <a:gd name="adj1" fmla="val 112841"/>
              <a:gd name="adj2" fmla="val 129170"/>
              <a:gd name="adj3" fmla="val 18806"/>
              <a:gd name="adj4" fmla="val 66485"/>
            </a:avLst>
          </a:prstGeom>
          <a:solidFill>
            <a:srgbClr val="FEB4AC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>
              <a:spcBef>
                <a:spcPts val="601"/>
              </a:spcBef>
              <a:spcAft>
                <a:spcPts val="601"/>
              </a:spcAft>
            </a:pPr>
            <a:r>
              <a:rPr lang="zh-CN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每年基本储蓄</a:t>
            </a:r>
            <a:r>
              <a:rPr lang="en-US" altLang="zh-CN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CN" altLang="en-US" sz="12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CN" sz="12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br>
              <a:rPr lang="en-US" sz="1200" u="sng" kern="100" dirty="0">
                <a:solidFill>
                  <a:srgbClr val="D312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CN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年合共储蓄 </a:t>
            </a:r>
            <a:r>
              <a:rPr lang="zh-CN" altLang="en-US" sz="12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CN" sz="12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2F1FF241-4A0F-9A62-0798-BD3EC0F7B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903" y="4193714"/>
            <a:ext cx="3023340" cy="1104544"/>
          </a:xfrm>
          <a:prstGeom prst="upArrowCallout">
            <a:avLst>
              <a:gd name="adj1" fmla="val 42419"/>
              <a:gd name="adj2" fmla="val 64662"/>
              <a:gd name="adj3" fmla="val 27083"/>
              <a:gd name="adj4" fmla="val 60583"/>
            </a:avLst>
          </a:prstGeom>
          <a:solidFill>
            <a:srgbClr val="EAE1BA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>
              <a:spcBef>
                <a:spcPts val="601"/>
              </a:spcBef>
            </a:pP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于</a:t>
            </a:r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90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岁一次性提取或用作传承下一代，</a:t>
            </a:r>
            <a:b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12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 </a:t>
            </a:r>
            <a:r>
              <a:rPr lang="en-US" altLang="zh-TW" sz="12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ED559680-E1AE-1EBC-209A-72C26048D09C}"/>
              </a:ext>
            </a:extLst>
          </p:cNvPr>
          <p:cNvCxnSpPr>
            <a:cxnSpLocks/>
          </p:cNvCxnSpPr>
          <p:nvPr/>
        </p:nvCxnSpPr>
        <p:spPr>
          <a:xfrm>
            <a:off x="712315" y="3943881"/>
            <a:ext cx="11160000" cy="507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8F54CA24-6A85-AB03-8D2E-D7E8B13FFD65}"/>
              </a:ext>
            </a:extLst>
          </p:cNvPr>
          <p:cNvSpPr/>
          <p:nvPr/>
        </p:nvSpPr>
        <p:spPr>
          <a:xfrm>
            <a:off x="1003455" y="3829608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5670409-32CB-D8E7-1CFE-960D162A16D7}"/>
              </a:ext>
            </a:extLst>
          </p:cNvPr>
          <p:cNvSpPr/>
          <p:nvPr/>
        </p:nvSpPr>
        <p:spPr>
          <a:xfrm>
            <a:off x="2332434" y="3827434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24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4EAAB06-995C-13D2-E4D5-854BCFC6BB29}"/>
              </a:ext>
            </a:extLst>
          </p:cNvPr>
          <p:cNvSpPr/>
          <p:nvPr/>
        </p:nvSpPr>
        <p:spPr>
          <a:xfrm>
            <a:off x="4854483" y="3827433"/>
            <a:ext cx="3154983" cy="264425"/>
          </a:xfrm>
          <a:prstGeom prst="rect">
            <a:avLst/>
          </a:prstGeom>
          <a:solidFill>
            <a:srgbClr val="9CC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31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                                              </a:t>
            </a:r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56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C695BE-1346-DF1B-09ED-F07361BF33B0}"/>
              </a:ext>
            </a:extLst>
          </p:cNvPr>
          <p:cNvSpPr/>
          <p:nvPr/>
        </p:nvSpPr>
        <p:spPr>
          <a:xfrm>
            <a:off x="33584" y="3284078"/>
            <a:ext cx="674993" cy="264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投保人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7D53B3-C321-CDBC-ADE2-C05D3413BC62}"/>
              </a:ext>
            </a:extLst>
          </p:cNvPr>
          <p:cNvSpPr/>
          <p:nvPr/>
        </p:nvSpPr>
        <p:spPr>
          <a:xfrm>
            <a:off x="33584" y="3787563"/>
            <a:ext cx="674993" cy="264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儿子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C1929B1B-EF86-84F8-E788-9EE916F9AED8}"/>
              </a:ext>
            </a:extLst>
          </p:cNvPr>
          <p:cNvCxnSpPr/>
          <p:nvPr/>
        </p:nvCxnSpPr>
        <p:spPr>
          <a:xfrm>
            <a:off x="5691628" y="3409413"/>
            <a:ext cx="144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F662B578-A8B9-B484-BBF9-C9B0525CD6F2}"/>
              </a:ext>
            </a:extLst>
          </p:cNvPr>
          <p:cNvCxnSpPr/>
          <p:nvPr/>
        </p:nvCxnSpPr>
        <p:spPr>
          <a:xfrm>
            <a:off x="5683162" y="3949694"/>
            <a:ext cx="144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圖片 20">
            <a:extLst>
              <a:ext uri="{FF2B5EF4-FFF2-40B4-BE49-F238E27FC236}">
                <a16:creationId xmlns:a16="http://schemas.microsoft.com/office/drawing/2014/main" id="{F77F7C01-CEDD-7633-19C0-1902382CF23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7960" r="3980" b="5164"/>
          <a:stretch>
            <a:fillRect/>
          </a:stretch>
        </p:blipFill>
        <p:spPr bwMode="auto">
          <a:xfrm>
            <a:off x="5386846" y="1691416"/>
            <a:ext cx="1440000" cy="1472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AutoShape 28">
            <a:extLst>
              <a:ext uri="{FF2B5EF4-FFF2-40B4-BE49-F238E27FC236}">
                <a16:creationId xmlns:a16="http://schemas.microsoft.com/office/drawing/2014/main" id="{12FCDD3B-F4A6-0E55-E808-B5C0030FF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8488" y="989844"/>
            <a:ext cx="854075" cy="631826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83B83B"/>
          </a:solidFill>
          <a:ln w="9525">
            <a:noFill/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4205618-53CD-969B-B578-2D07C9688002}"/>
              </a:ext>
            </a:extLst>
          </p:cNvPr>
          <p:cNvSpPr/>
          <p:nvPr/>
        </p:nvSpPr>
        <p:spPr>
          <a:xfrm>
            <a:off x="9901760" y="3844448"/>
            <a:ext cx="788446" cy="264425"/>
          </a:xfrm>
          <a:prstGeom prst="rect">
            <a:avLst/>
          </a:prstGeom>
          <a:solidFill>
            <a:srgbClr val="DFD3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56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0C8C07C4-49B5-A229-1CF6-B3CAB5996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4873" y="4291047"/>
            <a:ext cx="3984151" cy="996467"/>
          </a:xfrm>
          <a:prstGeom prst="upArrowCallout">
            <a:avLst>
              <a:gd name="adj1" fmla="val 112841"/>
              <a:gd name="adj2" fmla="val 129170"/>
              <a:gd name="adj3" fmla="val 18806"/>
              <a:gd name="adj4" fmla="val 66485"/>
            </a:avLst>
          </a:prstGeom>
          <a:solidFill>
            <a:srgbClr val="C5E0B4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/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于</a:t>
            </a:r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65-90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岁每年提取</a:t>
            </a:r>
            <a: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2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HK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{ 26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年合共提取</a:t>
            </a:r>
            <a: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 </a:t>
            </a:r>
            <a:r>
              <a:rPr lang="en-US" altLang="zh-HK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2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}</a:t>
            </a:r>
            <a:endParaRPr lang="zh-TW" altLang="en-US" sz="1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AEA1D6A-8401-E2CF-9941-6A163C12992D}"/>
              </a:ext>
            </a:extLst>
          </p:cNvPr>
          <p:cNvSpPr txBox="1"/>
          <p:nvPr/>
        </p:nvSpPr>
        <p:spPr>
          <a:xfrm>
            <a:off x="6971954" y="2324333"/>
            <a:ext cx="982839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HK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 26</a:t>
            </a:r>
            <a:r>
              <a:rPr lang="zh-TW" altLang="en-US" sz="1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endParaRPr lang="zh-HK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F1E7904-A789-4B2C-E6F1-C5CCA1EDE5E9}"/>
              </a:ext>
            </a:extLst>
          </p:cNvPr>
          <p:cNvSpPr txBox="1"/>
          <p:nvPr/>
        </p:nvSpPr>
        <p:spPr>
          <a:xfrm>
            <a:off x="321734" y="279400"/>
            <a:ext cx="81147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岁先生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小姐 环宇盈活储蓄计划（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年缴费）</a:t>
            </a:r>
            <a:endParaRPr lang="zh-HK" altLang="en-US" sz="3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901C8D9-1F9D-B4A5-008E-FDB5DC5DDCAC}"/>
              </a:ext>
            </a:extLst>
          </p:cNvPr>
          <p:cNvSpPr txBox="1"/>
          <p:nvPr/>
        </p:nvSpPr>
        <p:spPr>
          <a:xfrm>
            <a:off x="10173757" y="70001"/>
            <a:ext cx="1943305" cy="55399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实际回报年利率</a:t>
            </a:r>
            <a:br>
              <a:rPr lang="en-US" altLang="zh-TW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5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  <a:endParaRPr lang="zh-HK" altLang="en-US" sz="15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07285D4-5289-318B-0A48-588CB074DD79}"/>
              </a:ext>
            </a:extLst>
          </p:cNvPr>
          <p:cNvSpPr txBox="1"/>
          <p:nvPr/>
        </p:nvSpPr>
        <p:spPr>
          <a:xfrm>
            <a:off x="6096000" y="6457890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*以美元兑</a:t>
            </a:r>
            <a:r>
              <a:rPr lang="zh-TW" altLang="en-US" sz="10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汇率</a:t>
            </a:r>
            <a:r>
              <a:rPr lang="en-US" altLang="zh-HK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6.8</a:t>
            </a: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计算*</a:t>
            </a:r>
            <a:br>
              <a:rPr lang="en-US" altLang="zh-HK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以上数据只供参考, 详情请参阅建议书</a:t>
            </a:r>
          </a:p>
        </p:txBody>
      </p:sp>
    </p:spTree>
    <p:extLst>
      <p:ext uri="{BB962C8B-B14F-4D97-AF65-F5344CB8AC3E}">
        <p14:creationId xmlns:p14="http://schemas.microsoft.com/office/powerpoint/2010/main" val="317683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方塊 6">
            <a:extLst>
              <a:ext uri="{FF2B5EF4-FFF2-40B4-BE49-F238E27FC236}">
                <a16:creationId xmlns:a16="http://schemas.microsoft.com/office/drawing/2014/main" id="{74464EA9-D715-2CCB-ADF9-FEA545DC4DE1}"/>
              </a:ext>
            </a:extLst>
          </p:cNvPr>
          <p:cNvSpPr txBox="1"/>
          <p:nvPr/>
        </p:nvSpPr>
        <p:spPr>
          <a:xfrm>
            <a:off x="321734" y="279400"/>
            <a:ext cx="76562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岁 小女孩 环宇盈活储蓄计划（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年缴费）</a:t>
            </a:r>
            <a:endParaRPr lang="zh-HK" altLang="en-US" sz="3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25CDE1A-3D0F-CAA3-01EE-2BA6BE2F7D0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5556"/>
          <a:stretch>
            <a:fillRect/>
          </a:stretch>
        </p:blipFill>
        <p:spPr bwMode="auto">
          <a:xfrm>
            <a:off x="7392536" y="1424569"/>
            <a:ext cx="2257616" cy="240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965D8C2-D7AF-0C77-8086-E1B52A8BC34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7960" r="3980" b="5164"/>
          <a:stretch>
            <a:fillRect/>
          </a:stretch>
        </p:blipFill>
        <p:spPr bwMode="auto">
          <a:xfrm>
            <a:off x="9973205" y="1783341"/>
            <a:ext cx="1914524" cy="1957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AutoShape 8">
            <a:extLst>
              <a:ext uri="{FF2B5EF4-FFF2-40B4-BE49-F238E27FC236}">
                <a16:creationId xmlns:a16="http://schemas.microsoft.com/office/drawing/2014/main" id="{DA135618-0CD4-6544-BBFA-0034DCAA0EA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83956" y="2691510"/>
            <a:ext cx="520700" cy="413385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/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C3EEDF13-E178-9346-AA7F-0F313C1B4816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353882" y="2701035"/>
            <a:ext cx="520700" cy="413385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/>
          </a:p>
        </p:txBody>
      </p:sp>
      <p:sp>
        <p:nvSpPr>
          <p:cNvPr id="12" name="AutoShape 28">
            <a:extLst>
              <a:ext uri="{FF2B5EF4-FFF2-40B4-BE49-F238E27FC236}">
                <a16:creationId xmlns:a16="http://schemas.microsoft.com/office/drawing/2014/main" id="{4DCB10E3-7A34-624D-7BD0-246B6D14D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5428" y="1040337"/>
            <a:ext cx="854075" cy="631826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83B83B"/>
          </a:solidFill>
          <a:ln w="9525">
            <a:noFill/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F2B11A4-6CF5-92F1-3296-3345EB27D4F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5173" y="3328150"/>
            <a:ext cx="542924" cy="37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9283240B-A06E-3B2F-A4F3-6072DF70F83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57622" y="3328150"/>
            <a:ext cx="542924" cy="37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778A5321-D553-F0F0-2DC5-1AD6E0F34194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8070" y="3347487"/>
            <a:ext cx="542924" cy="3714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AF1FF3B3-B38D-E668-352E-AB7CA073E3B7}"/>
              </a:ext>
            </a:extLst>
          </p:cNvPr>
          <p:cNvCxnSpPr>
            <a:cxnSpLocks/>
          </p:cNvCxnSpPr>
          <p:nvPr/>
        </p:nvCxnSpPr>
        <p:spPr>
          <a:xfrm>
            <a:off x="194733" y="3913353"/>
            <a:ext cx="11675534" cy="507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5D264DA-A6EF-64EE-4A8D-EF744D6A27B0}"/>
              </a:ext>
            </a:extLst>
          </p:cNvPr>
          <p:cNvSpPr/>
          <p:nvPr/>
        </p:nvSpPr>
        <p:spPr>
          <a:xfrm>
            <a:off x="359827" y="3781142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99D85FC-24A3-ED0D-6DF3-E1A25032287C}"/>
              </a:ext>
            </a:extLst>
          </p:cNvPr>
          <p:cNvSpPr/>
          <p:nvPr/>
        </p:nvSpPr>
        <p:spPr>
          <a:xfrm>
            <a:off x="1602637" y="3781142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ED01122-F519-C8F0-0E29-760CFEC43253}"/>
              </a:ext>
            </a:extLst>
          </p:cNvPr>
          <p:cNvSpPr/>
          <p:nvPr/>
        </p:nvSpPr>
        <p:spPr>
          <a:xfrm>
            <a:off x="7929040" y="3798075"/>
            <a:ext cx="1184276" cy="264425"/>
          </a:xfrm>
          <a:prstGeom prst="rect">
            <a:avLst/>
          </a:prstGeom>
          <a:solidFill>
            <a:srgbClr val="9CCB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60-85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AFC5C50-0296-F010-4EFE-F4CAF2ECECBC}"/>
              </a:ext>
            </a:extLst>
          </p:cNvPr>
          <p:cNvSpPr/>
          <p:nvPr/>
        </p:nvSpPr>
        <p:spPr>
          <a:xfrm>
            <a:off x="10523023" y="3823476"/>
            <a:ext cx="788446" cy="264425"/>
          </a:xfrm>
          <a:prstGeom prst="rect">
            <a:avLst/>
          </a:prstGeom>
          <a:solidFill>
            <a:srgbClr val="DFD3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47FC9FB-9AE2-51E8-1521-C510BE659E5B}"/>
              </a:ext>
            </a:extLst>
          </p:cNvPr>
          <p:cNvSpPr txBox="1"/>
          <p:nvPr/>
        </p:nvSpPr>
        <p:spPr>
          <a:xfrm>
            <a:off x="812802" y="6134725"/>
            <a:ext cx="104986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环宇盈活储蓄计划</a:t>
            </a:r>
            <a:r>
              <a:rPr lang="zh-HK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（5年缴费），一生合共提取</a:t>
            </a:r>
            <a:r>
              <a:rPr lang="en-US" altLang="zh-HK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8,273,520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美元 (</a:t>
            </a:r>
            <a:r>
              <a:rPr lang="en-US" altLang="zh-HK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57,087,288</a:t>
            </a:r>
            <a:r>
              <a:rPr lang="zh-TW" altLang="en-US" sz="1500" b="1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HK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，为已缴储蓄成本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HK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33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倍</a:t>
            </a:r>
            <a:r>
              <a:rPr lang="zh-HK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！</a:t>
            </a:r>
          </a:p>
        </p:txBody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71379112-E0D2-291D-2502-DDEEB8B17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460" y="4270914"/>
            <a:ext cx="1869699" cy="1469523"/>
          </a:xfrm>
          <a:prstGeom prst="upArrowCallout">
            <a:avLst>
              <a:gd name="adj1" fmla="val 53602"/>
              <a:gd name="adj2" fmla="val 80211"/>
              <a:gd name="adj3" fmla="val 18806"/>
              <a:gd name="adj4" fmla="val 75245"/>
            </a:avLst>
          </a:prstGeom>
          <a:solidFill>
            <a:srgbClr val="FEB4AC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>
              <a:spcBef>
                <a:spcPts val="601"/>
              </a:spcBef>
              <a:spcAft>
                <a:spcPts val="601"/>
              </a:spcAft>
            </a:pPr>
            <a:r>
              <a:rPr lang="zh-CN" altLang="en-US" sz="1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每年基本储蓄</a:t>
            </a:r>
            <a:r>
              <a:rPr lang="zh-TW" altLang="en-US" sz="1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br>
              <a:rPr lang="en-US" altLang="zh-CN" sz="1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CN" altLang="en-US" sz="10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CN" sz="10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0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0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0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br>
              <a:rPr lang="en-US" sz="10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br>
              <a:rPr lang="en-US" sz="1000" b="1" u="sng" kern="100" dirty="0">
                <a:solidFill>
                  <a:srgbClr val="D312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sz="1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CN" altLang="en-US" sz="1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年合共储蓄 </a:t>
            </a:r>
            <a:r>
              <a:rPr lang="zh-TW" altLang="en-US" sz="1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br>
              <a:rPr lang="en-US" altLang="zh-CN" sz="10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CN" altLang="en-US" sz="10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CN" sz="10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br>
              <a:rPr lang="en-US" altLang="zh-CN" sz="10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sz="10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0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0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D872A12E-D5C5-6DC8-D075-EBDC42C2F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5672" y="4198575"/>
            <a:ext cx="1549590" cy="1529938"/>
          </a:xfrm>
          <a:prstGeom prst="upArrowCallout">
            <a:avLst>
              <a:gd name="adj1" fmla="val 42419"/>
              <a:gd name="adj2" fmla="val 64662"/>
              <a:gd name="adj3" fmla="val 27083"/>
              <a:gd name="adj4" fmla="val 65354"/>
            </a:avLst>
          </a:prstGeom>
          <a:solidFill>
            <a:srgbClr val="EAE1BA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>
              <a:spcBef>
                <a:spcPts val="601"/>
              </a:spcBef>
            </a:pPr>
            <a:r>
              <a:rPr lang="zh-TW" alt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</a:t>
            </a:r>
            <a:r>
              <a:rPr 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</a:t>
            </a:r>
            <a:r>
              <a:rPr lang="zh-TW" alt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岁选择退保或传承，便有</a:t>
            </a:r>
            <a:r>
              <a:rPr lang="zh-TW" altLang="en-US" sz="10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UnicodeMS"/>
              </a:rPr>
              <a:t>一笔</a:t>
            </a:r>
            <a:r>
              <a:rPr lang="zh-TW" altLang="en-US" sz="10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 </a:t>
            </a:r>
            <a:r>
              <a:rPr lang="en-US" altLang="zh-TW" sz="10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0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0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0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3" name="AutoShape 37">
            <a:extLst>
              <a:ext uri="{FF2B5EF4-FFF2-40B4-BE49-F238E27FC236}">
                <a16:creationId xmlns:a16="http://schemas.microsoft.com/office/drawing/2014/main" id="{BCDD93B2-9368-9212-60A2-9C7136905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0861" y="4217325"/>
            <a:ext cx="2934980" cy="1508969"/>
          </a:xfrm>
          <a:prstGeom prst="upArrowCallout">
            <a:avLst>
              <a:gd name="adj1" fmla="val 60274"/>
              <a:gd name="adj2" fmla="val 98282"/>
              <a:gd name="adj3" fmla="val 24292"/>
              <a:gd name="adj4" fmla="val 67308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/>
            <a:r>
              <a:rPr lang="zh-TW" alt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可于</a:t>
            </a:r>
            <a:r>
              <a:rPr lang="en-US" altLang="zh-TW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60</a:t>
            </a:r>
            <a:r>
              <a:rPr 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-85</a:t>
            </a:r>
            <a:r>
              <a:rPr lang="zh-TW" alt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岁每年提取</a:t>
            </a:r>
            <a:r>
              <a:rPr lang="en-US" altLang="zh-TW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br>
              <a:rPr lang="en-US" altLang="zh-TW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10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0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0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0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0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0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{26</a:t>
            </a:r>
            <a:r>
              <a:rPr lang="zh-TW" alt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年合共提取</a:t>
            </a:r>
            <a:r>
              <a:rPr lang="zh-TW" altLang="en-US" sz="10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br>
              <a:rPr lang="en-US" altLang="zh-TW" sz="10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10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0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0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0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}</a:t>
            </a:r>
            <a:br>
              <a:rPr lang="en-US" sz="10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每年到外地旅游及作退休后开支的一部份</a:t>
            </a:r>
            <a:r>
              <a:rPr 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0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647220-17BE-DB18-31E6-D1A01530218C}"/>
              </a:ext>
            </a:extLst>
          </p:cNvPr>
          <p:cNvSpPr/>
          <p:nvPr/>
        </p:nvSpPr>
        <p:spPr>
          <a:xfrm>
            <a:off x="3043288" y="3798075"/>
            <a:ext cx="1184276" cy="264425"/>
          </a:xfrm>
          <a:prstGeom prst="rect">
            <a:avLst/>
          </a:prstGeom>
          <a:solidFill>
            <a:srgbClr val="8EC5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19-22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30" name="Picture 6" descr="Logo, Vektor, Universitas gambar png">
            <a:extLst>
              <a:ext uri="{FF2B5EF4-FFF2-40B4-BE49-F238E27FC236}">
                <a16:creationId xmlns:a16="http://schemas.microsoft.com/office/drawing/2014/main" id="{0CC81030-D6CD-3079-F431-F4249ACFBC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531" b="90000" l="10000" r="90000">
                        <a14:foregroundMark x1="35667" y1="73281" x2="35889" y2="73750"/>
                        <a14:foregroundMark x1="53111" y1="73125" x2="52444" y2="73594"/>
                        <a14:foregroundMark x1="48000" y1="71875" x2="48000" y2="71875"/>
                        <a14:foregroundMark x1="59000" y1="73125" x2="59000" y2="73125"/>
                        <a14:foregroundMark x1="64111" y1="71719" x2="64111" y2="71719"/>
                        <a14:foregroundMark x1="58444" y1="78438" x2="58444" y2="78438"/>
                        <a14:foregroundMark x1="56667" y1="73125" x2="56667" y2="73125"/>
                        <a14:foregroundMark x1="57556" y1="75469" x2="57556" y2="75469"/>
                        <a14:foregroundMark x1="57111" y1="75156" x2="57111" y2="75156"/>
                        <a14:foregroundMark x1="57111" y1="75156" x2="57111" y2="75156"/>
                        <a14:foregroundMark x1="47556" y1="10313" x2="48556" y2="10313"/>
                        <a14:foregroundMark x1="49222" y1="9688" x2="49222" y2="9688"/>
                        <a14:foregroundMark x1="49667" y1="9688" x2="51111" y2="10000"/>
                        <a14:foregroundMark x1="51111" y1="10156" x2="47778" y2="9531"/>
                        <a14:foregroundMark x1="47778" y1="9531" x2="52111" y2="9531"/>
                        <a14:foregroundMark x1="53556" y1="74375" x2="54000" y2="745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951" r="22154" b="11385"/>
          <a:stretch/>
        </p:blipFill>
        <p:spPr bwMode="auto">
          <a:xfrm>
            <a:off x="3057921" y="2510378"/>
            <a:ext cx="1134414" cy="1234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64F95871-5188-B4FE-5151-E4DC9EA730A3}"/>
              </a:ext>
            </a:extLst>
          </p:cNvPr>
          <p:cNvSpPr txBox="1"/>
          <p:nvPr/>
        </p:nvSpPr>
        <p:spPr>
          <a:xfrm>
            <a:off x="10655246" y="7934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提取例子二</a:t>
            </a:r>
            <a:endParaRPr lang="zh-HK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8" name="Picture 4" descr="婚禮簡單矢量圖素材-插圖素材[95606702] - PIXTA圖庫">
            <a:extLst>
              <a:ext uri="{FF2B5EF4-FFF2-40B4-BE49-F238E27FC236}">
                <a16:creationId xmlns:a16="http://schemas.microsoft.com/office/drawing/2014/main" id="{23A07E96-8318-A360-3E43-67139A733D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81"/>
          <a:stretch/>
        </p:blipFill>
        <p:spPr bwMode="auto">
          <a:xfrm>
            <a:off x="4843778" y="2386121"/>
            <a:ext cx="1359658" cy="135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FE042D4-5824-3229-291B-76369A5838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4071" b="96065" l="9739" r="89549">
                        <a14:foregroundMark x1="43705" y1="7463" x2="49644" y2="10583"/>
                        <a14:foregroundMark x1="51544" y1="4206" x2="53919" y2="5292"/>
                        <a14:foregroundMark x1="38717" y1="30936" x2="43943" y2="32564"/>
                        <a14:foregroundMark x1="62945" y1="30665" x2="64371" y2="33514"/>
                        <a14:foregroundMark x1="53919" y1="60109" x2="52494" y2="68385"/>
                        <a14:foregroundMark x1="52494" y1="68385" x2="52494" y2="68385"/>
                        <a14:foregroundMark x1="48456" y1="72049" x2="44418" y2="86703"/>
                        <a14:foregroundMark x1="44418" y1="86703" x2="47031" y2="94166"/>
                        <a14:foregroundMark x1="76010" y1="59701" x2="40618" y2="59159"/>
                        <a14:foregroundMark x1="40618" y1="59159" x2="25653" y2="63501"/>
                        <a14:foregroundMark x1="25653" y1="63501" x2="25178" y2="68114"/>
                        <a14:foregroundMark x1="36342" y1="63772" x2="52019" y2="72049"/>
                        <a14:foregroundMark x1="52019" y1="72049" x2="52019" y2="72456"/>
                        <a14:foregroundMark x1="62708" y1="64993" x2="56770" y2="71777"/>
                        <a14:foregroundMark x1="56770" y1="71777" x2="56770" y2="71777"/>
                        <a14:foregroundMark x1="62945" y1="66757" x2="60808" y2="70828"/>
                        <a14:foregroundMark x1="52494" y1="70421" x2="52019" y2="72999"/>
                        <a14:foregroundMark x1="50831" y1="73541" x2="50356" y2="75170"/>
                        <a14:foregroundMark x1="59145" y1="77069" x2="56770" y2="89281"/>
                        <a14:foregroundMark x1="58907" y1="95251" x2="60570" y2="9606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0" y="2540643"/>
            <a:ext cx="639604" cy="1119687"/>
          </a:xfrm>
          <a:prstGeom prst="rect">
            <a:avLst/>
          </a:prstGeom>
        </p:spPr>
      </p:pic>
      <p:sp>
        <p:nvSpPr>
          <p:cNvPr id="26" name="AutoShape 37">
            <a:extLst>
              <a:ext uri="{FF2B5EF4-FFF2-40B4-BE49-F238E27FC236}">
                <a16:creationId xmlns:a16="http://schemas.microsoft.com/office/drawing/2014/main" id="{953FC1D5-35BE-5D6A-CDAC-9EDA1FFD6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8560" y="4186652"/>
            <a:ext cx="2697868" cy="1553783"/>
          </a:xfrm>
          <a:prstGeom prst="upArrowCallout">
            <a:avLst>
              <a:gd name="adj1" fmla="val 60274"/>
              <a:gd name="adj2" fmla="val 81159"/>
              <a:gd name="adj3" fmla="val 24292"/>
              <a:gd name="adj4" fmla="val 68784"/>
            </a:avLst>
          </a:prstGeom>
          <a:solidFill>
            <a:srgbClr val="8EC5DE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/>
            <a:r>
              <a:rPr lang="zh-TW" altLang="en-US" sz="9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可于</a:t>
            </a:r>
            <a:r>
              <a:rPr lang="en-US" sz="9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19-22</a:t>
            </a:r>
            <a:r>
              <a:rPr lang="zh-TW" altLang="en-US" sz="9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岁每年提取</a:t>
            </a:r>
            <a:r>
              <a:rPr lang="en-US" altLang="zh-TW" sz="9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br>
              <a:rPr lang="en-US" altLang="zh-TW" sz="9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95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95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95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95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95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95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sz="9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{4</a:t>
            </a:r>
            <a:r>
              <a:rPr lang="zh-TW" altLang="en-US" sz="9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年合共提取</a:t>
            </a:r>
            <a:r>
              <a:rPr lang="zh-TW" altLang="en-US" sz="95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 </a:t>
            </a:r>
            <a:r>
              <a:rPr lang="en-US" sz="95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95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95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en-US" sz="9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}</a:t>
            </a:r>
            <a:br>
              <a:rPr lang="en-US" sz="95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sz="9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9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作为升读大学学费开支的一部份</a:t>
            </a:r>
            <a:r>
              <a:rPr lang="en-US" sz="95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95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8" name="AutoShape 37">
            <a:extLst>
              <a:ext uri="{FF2B5EF4-FFF2-40B4-BE49-F238E27FC236}">
                <a16:creationId xmlns:a16="http://schemas.microsoft.com/office/drawing/2014/main" id="{ACC74F44-3F0D-2DD7-E1DA-E8543D291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0716" y="4206582"/>
            <a:ext cx="1990313" cy="1529938"/>
          </a:xfrm>
          <a:prstGeom prst="upArrowCallout">
            <a:avLst>
              <a:gd name="adj1" fmla="val 60274"/>
              <a:gd name="adj2" fmla="val 98282"/>
              <a:gd name="adj3" fmla="val 24292"/>
              <a:gd name="adj4" fmla="val 68784"/>
            </a:avLst>
          </a:prstGeom>
          <a:solidFill>
            <a:srgbClr val="CFD3DE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/>
            <a:r>
              <a:rPr lang="zh-TW" alt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于</a:t>
            </a:r>
            <a:r>
              <a:rPr lang="en-US" altLang="zh-TW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35</a:t>
            </a:r>
            <a:r>
              <a:rPr lang="zh-TW" alt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岁一次性提取</a:t>
            </a:r>
            <a:r>
              <a:rPr lang="en-US" altLang="zh-TW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br>
              <a:rPr lang="en-US" altLang="zh-TW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10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000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0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0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000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0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作为结婚</a:t>
            </a:r>
            <a:r>
              <a:rPr lang="en-US" altLang="zh-TW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/</a:t>
            </a:r>
            <a:r>
              <a:rPr lang="zh-TW" alt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创业开支的一部份</a:t>
            </a:r>
            <a:r>
              <a:rPr lang="en-US" sz="10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0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5AD7A3-1C17-9AF1-6D80-7DE3413AAEA5}"/>
              </a:ext>
            </a:extLst>
          </p:cNvPr>
          <p:cNvSpPr/>
          <p:nvPr/>
        </p:nvSpPr>
        <p:spPr>
          <a:xfrm>
            <a:off x="5489453" y="3796096"/>
            <a:ext cx="1184276" cy="264425"/>
          </a:xfrm>
          <a:prstGeom prst="rect">
            <a:avLst/>
          </a:prstGeom>
          <a:solidFill>
            <a:srgbClr val="CFD3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35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B1341CC-3212-8EFB-52C5-4475EDCFDF48}"/>
              </a:ext>
            </a:extLst>
          </p:cNvPr>
          <p:cNvSpPr txBox="1"/>
          <p:nvPr/>
        </p:nvSpPr>
        <p:spPr>
          <a:xfrm>
            <a:off x="10144378" y="467662"/>
            <a:ext cx="1977936" cy="2769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提取的</a:t>
            </a:r>
            <a:r>
              <a:rPr lang="zh-HK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年利率为</a:t>
            </a:r>
            <a:r>
              <a:rPr lang="en-US" altLang="zh-HK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XXX</a:t>
            </a:r>
            <a:r>
              <a:rPr lang="zh-HK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E6414AD-4548-C483-F04D-ADE1F3F06FA7}"/>
              </a:ext>
            </a:extLst>
          </p:cNvPr>
          <p:cNvSpPr txBox="1"/>
          <p:nvPr/>
        </p:nvSpPr>
        <p:spPr>
          <a:xfrm>
            <a:off x="6096000" y="6457890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*以美元兑</a:t>
            </a:r>
            <a:r>
              <a:rPr lang="zh-TW" altLang="en-US" sz="10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汇率</a:t>
            </a:r>
            <a:r>
              <a:rPr lang="en-US" altLang="zh-HK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6.8</a:t>
            </a: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计算*</a:t>
            </a:r>
            <a:br>
              <a:rPr lang="en-US" altLang="zh-HK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以上数据只供参考, 详情请参阅建议书</a:t>
            </a:r>
          </a:p>
        </p:txBody>
      </p:sp>
    </p:spTree>
    <p:extLst>
      <p:ext uri="{BB962C8B-B14F-4D97-AF65-F5344CB8AC3E}">
        <p14:creationId xmlns:p14="http://schemas.microsoft.com/office/powerpoint/2010/main" val="86977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7EB93-DAE4-FDE3-E5BD-F60C313DE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28">
            <a:extLst>
              <a:ext uri="{FF2B5EF4-FFF2-40B4-BE49-F238E27FC236}">
                <a16:creationId xmlns:a16="http://schemas.microsoft.com/office/drawing/2014/main" id="{5FEF901B-8D42-66BE-3A61-0F7F7281D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982" y="920217"/>
            <a:ext cx="854075" cy="631826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83B83B"/>
          </a:solidFill>
          <a:ln w="9525">
            <a:noFill/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C1596562-F7BC-D2C3-57CC-1CFC5748969B}"/>
              </a:ext>
            </a:extLst>
          </p:cNvPr>
          <p:cNvGrpSpPr/>
          <p:nvPr/>
        </p:nvGrpSpPr>
        <p:grpSpPr>
          <a:xfrm>
            <a:off x="1254671" y="1901603"/>
            <a:ext cx="1492008" cy="854470"/>
            <a:chOff x="950753" y="2216539"/>
            <a:chExt cx="1492008" cy="854470"/>
          </a:xfrm>
        </p:grpSpPr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AA9C7F6F-EFA4-12CE-B38A-1940E6DB7D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139441" y="2216539"/>
              <a:ext cx="520700" cy="413385"/>
            </a:xfrm>
            <a:prstGeom prst="upArrow">
              <a:avLst>
                <a:gd name="adj1" fmla="val 49870"/>
                <a:gd name="adj2" fmla="val 61069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rot="0" vert="eaVert" wrap="square" lIns="91440" tIns="45721" rIns="91440" bIns="45721" anchor="t" anchorCtr="0" upright="1">
              <a:noAutofit/>
            </a:bodyPr>
            <a:lstStyle/>
            <a:p>
              <a:endParaRPr lang="zh-TW" altLang="en-US" sz="180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AutoShape 9">
              <a:extLst>
                <a:ext uri="{FF2B5EF4-FFF2-40B4-BE49-F238E27FC236}">
                  <a16:creationId xmlns:a16="http://schemas.microsoft.com/office/drawing/2014/main" id="{7B38D1F4-81AC-DB6F-89F8-23A7FCC9AF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809367" y="2226064"/>
              <a:ext cx="520700" cy="413385"/>
            </a:xfrm>
            <a:prstGeom prst="upArrow">
              <a:avLst>
                <a:gd name="adj1" fmla="val 49870"/>
                <a:gd name="adj2" fmla="val 61069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rot="0" vert="eaVert" wrap="square" lIns="91440" tIns="45721" rIns="91440" bIns="45721" anchor="t" anchorCtr="0" upright="1">
              <a:noAutofit/>
            </a:bodyPr>
            <a:lstStyle/>
            <a:p>
              <a:endParaRPr lang="zh-TW" altLang="en-US" sz="1801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C962C22D-1659-A7CF-EACB-D05C6A048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62757" y="2750797"/>
              <a:ext cx="468000" cy="320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6475CCD1-F88E-9995-AF32-C2C371564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974761" y="2742347"/>
              <a:ext cx="468000" cy="320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BA374501-9E27-873B-9A3C-070216C02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50753" y="2747999"/>
              <a:ext cx="468000" cy="320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3F31AD2F-0F92-FC56-8377-E3A775E95CFF}"/>
              </a:ext>
            </a:extLst>
          </p:cNvPr>
          <p:cNvCxnSpPr>
            <a:cxnSpLocks/>
          </p:cNvCxnSpPr>
          <p:nvPr/>
        </p:nvCxnSpPr>
        <p:spPr>
          <a:xfrm>
            <a:off x="720956" y="3177399"/>
            <a:ext cx="11160000" cy="507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51F5A4F-4C13-BECC-2248-06E9311E20CE}"/>
              </a:ext>
            </a:extLst>
          </p:cNvPr>
          <p:cNvSpPr/>
          <p:nvPr/>
        </p:nvSpPr>
        <p:spPr>
          <a:xfrm>
            <a:off x="1003455" y="3045188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544080-C715-2347-B6A1-714634FAA9CD}"/>
              </a:ext>
            </a:extLst>
          </p:cNvPr>
          <p:cNvSpPr/>
          <p:nvPr/>
        </p:nvSpPr>
        <p:spPr>
          <a:xfrm>
            <a:off x="2328053" y="3045188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54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5D395DD7-05E2-1EC3-19AB-2210F0219885}"/>
              </a:ext>
            </a:extLst>
          </p:cNvPr>
          <p:cNvSpPr txBox="1"/>
          <p:nvPr/>
        </p:nvSpPr>
        <p:spPr>
          <a:xfrm>
            <a:off x="652300" y="6190186"/>
            <a:ext cx="1088739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环宇盈活储蓄计划</a:t>
            </a:r>
            <a:r>
              <a:rPr lang="zh-HK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（5年缴费），一生合共提取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美元</a:t>
            </a:r>
            <a:r>
              <a:rPr lang="en-US" altLang="zh-HK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500" b="1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HK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，为已缴储蓄成本</a:t>
            </a:r>
            <a:r>
              <a:rPr lang="en-US" altLang="zh-HK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</a:t>
            </a:r>
            <a:r>
              <a:rPr lang="zh-HK" altLang="en-US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倍</a:t>
            </a:r>
            <a:r>
              <a:rPr lang="en-US" altLang="zh-HK" sz="15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! </a:t>
            </a:r>
            <a:endParaRPr lang="zh-HK" altLang="en-US" sz="1500" b="1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AutoShape 16">
            <a:extLst>
              <a:ext uri="{FF2B5EF4-FFF2-40B4-BE49-F238E27FC236}">
                <a16:creationId xmlns:a16="http://schemas.microsoft.com/office/drawing/2014/main" id="{4AC0BBDC-6F9E-F556-5B1F-9BC45413A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63" y="4261225"/>
            <a:ext cx="3350962" cy="1066030"/>
          </a:xfrm>
          <a:prstGeom prst="upArrowCallout">
            <a:avLst>
              <a:gd name="adj1" fmla="val 124389"/>
              <a:gd name="adj2" fmla="val 129170"/>
              <a:gd name="adj3" fmla="val 18806"/>
              <a:gd name="adj4" fmla="val 73221"/>
            </a:avLst>
          </a:prstGeom>
          <a:solidFill>
            <a:srgbClr val="FEB4AC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>
              <a:spcBef>
                <a:spcPts val="601"/>
              </a:spcBef>
              <a:spcAft>
                <a:spcPts val="601"/>
              </a:spcAft>
            </a:pPr>
            <a:r>
              <a:rPr lang="zh-CN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每年基本储蓄</a:t>
            </a:r>
            <a:r>
              <a:rPr lang="zh-CN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CN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br>
              <a:rPr lang="en-US" sz="1200" b="1" u="sng" kern="100" dirty="0">
                <a:solidFill>
                  <a:srgbClr val="D3124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CN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年合共储蓄</a:t>
            </a:r>
            <a:r>
              <a:rPr lang="zh-CN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CN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35" name="直線單箭頭接點 34">
            <a:extLst>
              <a:ext uri="{FF2B5EF4-FFF2-40B4-BE49-F238E27FC236}">
                <a16:creationId xmlns:a16="http://schemas.microsoft.com/office/drawing/2014/main" id="{ED559680-E1AE-1EBC-209A-72C26048D09C}"/>
              </a:ext>
            </a:extLst>
          </p:cNvPr>
          <p:cNvCxnSpPr>
            <a:cxnSpLocks/>
          </p:cNvCxnSpPr>
          <p:nvPr/>
        </p:nvCxnSpPr>
        <p:spPr>
          <a:xfrm>
            <a:off x="712315" y="3943881"/>
            <a:ext cx="11160000" cy="507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8F54CA24-6A85-AB03-8D2E-D7E8B13FFD65}"/>
              </a:ext>
            </a:extLst>
          </p:cNvPr>
          <p:cNvSpPr/>
          <p:nvPr/>
        </p:nvSpPr>
        <p:spPr>
          <a:xfrm>
            <a:off x="1003455" y="3829608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5670409-32CB-D8E7-1CFE-960D162A16D7}"/>
              </a:ext>
            </a:extLst>
          </p:cNvPr>
          <p:cNvSpPr/>
          <p:nvPr/>
        </p:nvSpPr>
        <p:spPr>
          <a:xfrm>
            <a:off x="2332434" y="3827434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DC695BE-1346-DF1B-09ED-F07361BF33B0}"/>
              </a:ext>
            </a:extLst>
          </p:cNvPr>
          <p:cNvSpPr/>
          <p:nvPr/>
        </p:nvSpPr>
        <p:spPr>
          <a:xfrm>
            <a:off x="33584" y="3052064"/>
            <a:ext cx="674993" cy="264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投保人</a:t>
            </a:r>
            <a:b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彭先生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7D53B3-C321-CDBC-ADE2-C05D3413BC62}"/>
              </a:ext>
            </a:extLst>
          </p:cNvPr>
          <p:cNvSpPr/>
          <p:nvPr/>
        </p:nvSpPr>
        <p:spPr>
          <a:xfrm>
            <a:off x="33584" y="3787563"/>
            <a:ext cx="674993" cy="264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子宸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08605541-8AAD-940A-4BAF-DC6D3A651284}"/>
              </a:ext>
            </a:extLst>
          </p:cNvPr>
          <p:cNvGrpSpPr/>
          <p:nvPr/>
        </p:nvGrpSpPr>
        <p:grpSpPr>
          <a:xfrm>
            <a:off x="4120388" y="3045188"/>
            <a:ext cx="1440000" cy="264425"/>
            <a:chOff x="4854483" y="3277202"/>
            <a:chExt cx="1440000" cy="26442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BE2E585-6115-37CD-97DF-729369875BEA}"/>
                </a:ext>
              </a:extLst>
            </p:cNvPr>
            <p:cNvSpPr/>
            <p:nvPr/>
          </p:nvSpPr>
          <p:spPr>
            <a:xfrm>
              <a:off x="4854483" y="3277202"/>
              <a:ext cx="1440000" cy="264425"/>
            </a:xfrm>
            <a:prstGeom prst="rect">
              <a:avLst/>
            </a:prstGeom>
            <a:solidFill>
              <a:srgbClr val="9CCB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65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           </a:t>
              </a:r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</a:t>
              </a:r>
              <a:endParaRPr lang="zh-HK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8" name="直線單箭頭接點 17">
              <a:extLst>
                <a:ext uri="{FF2B5EF4-FFF2-40B4-BE49-F238E27FC236}">
                  <a16:creationId xmlns:a16="http://schemas.microsoft.com/office/drawing/2014/main" id="{C1929B1B-EF86-84F8-E788-9EE916F9AED8}"/>
                </a:ext>
              </a:extLst>
            </p:cNvPr>
            <p:cNvCxnSpPr/>
            <p:nvPr/>
          </p:nvCxnSpPr>
          <p:spPr>
            <a:xfrm>
              <a:off x="5382533" y="3409413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F662B578-A8B9-B484-BBF9-C9B0525CD6F2}"/>
              </a:ext>
            </a:extLst>
          </p:cNvPr>
          <p:cNvCxnSpPr/>
          <p:nvPr/>
        </p:nvCxnSpPr>
        <p:spPr>
          <a:xfrm>
            <a:off x="5683162" y="3949694"/>
            <a:ext cx="144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圖片 20">
            <a:extLst>
              <a:ext uri="{FF2B5EF4-FFF2-40B4-BE49-F238E27FC236}">
                <a16:creationId xmlns:a16="http://schemas.microsoft.com/office/drawing/2014/main" id="{F77F7C01-CEDD-7633-19C0-1902382CF23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7960" r="3980" b="5164"/>
          <a:stretch>
            <a:fillRect/>
          </a:stretch>
        </p:blipFill>
        <p:spPr bwMode="auto">
          <a:xfrm>
            <a:off x="4175898" y="1489183"/>
            <a:ext cx="1440000" cy="1472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AutoShape 28">
            <a:extLst>
              <a:ext uri="{FF2B5EF4-FFF2-40B4-BE49-F238E27FC236}">
                <a16:creationId xmlns:a16="http://schemas.microsoft.com/office/drawing/2014/main" id="{12FCDD3B-F4A6-0E55-E808-B5C0030FF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7540" y="910443"/>
            <a:ext cx="854075" cy="631826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83B83B"/>
          </a:solidFill>
          <a:ln w="9525">
            <a:noFill/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4205618-53CD-969B-B578-2D07C9688002}"/>
              </a:ext>
            </a:extLst>
          </p:cNvPr>
          <p:cNvSpPr/>
          <p:nvPr/>
        </p:nvSpPr>
        <p:spPr>
          <a:xfrm>
            <a:off x="10236611" y="3844448"/>
            <a:ext cx="788446" cy="264425"/>
          </a:xfrm>
          <a:prstGeom prst="rect">
            <a:avLst/>
          </a:prstGeom>
          <a:solidFill>
            <a:srgbClr val="DFD39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AutoShape 16">
            <a:extLst>
              <a:ext uri="{FF2B5EF4-FFF2-40B4-BE49-F238E27FC236}">
                <a16:creationId xmlns:a16="http://schemas.microsoft.com/office/drawing/2014/main" id="{0C8C07C4-49B5-A229-1CF6-B3CAB5996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162" y="4233449"/>
            <a:ext cx="4169309" cy="996467"/>
          </a:xfrm>
          <a:prstGeom prst="upArrowCallout">
            <a:avLst>
              <a:gd name="adj1" fmla="val 49215"/>
              <a:gd name="adj2" fmla="val 47893"/>
              <a:gd name="adj3" fmla="val 18806"/>
              <a:gd name="adj4" fmla="val 66485"/>
            </a:avLst>
          </a:prstGeom>
          <a:solidFill>
            <a:srgbClr val="C5E0B4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1" rIns="91440" bIns="45721" anchor="ctr" anchorCtr="0" upright="1">
            <a:noAutofit/>
          </a:bodyPr>
          <a:lstStyle/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子宸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HK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毓博</a:t>
            </a:r>
            <a:r>
              <a:rPr lang="en-US" altLang="zh-HK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HK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芷璇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可于</a:t>
            </a:r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65-95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岁每年提取</a:t>
            </a:r>
            <a: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b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{ 31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年合共提取</a:t>
            </a:r>
            <a: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en-US" altLang="zh-HK" sz="1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}</a:t>
            </a:r>
            <a:endParaRPr lang="zh-TW" altLang="en-US" sz="1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AEA1D6A-8401-E2CF-9941-6A163C12992D}"/>
              </a:ext>
            </a:extLst>
          </p:cNvPr>
          <p:cNvSpPr txBox="1"/>
          <p:nvPr/>
        </p:nvSpPr>
        <p:spPr>
          <a:xfrm>
            <a:off x="5413570" y="2284776"/>
            <a:ext cx="771908" cy="3231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HK" sz="15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 36</a:t>
            </a:r>
            <a:r>
              <a:rPr lang="zh-TW" altLang="en-US" sz="15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endParaRPr lang="zh-HK" alt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C20FEBC0-9FC8-1D8B-1D3C-353027D761E8}"/>
              </a:ext>
            </a:extLst>
          </p:cNvPr>
          <p:cNvGrpSpPr/>
          <p:nvPr/>
        </p:nvGrpSpPr>
        <p:grpSpPr>
          <a:xfrm>
            <a:off x="4119574" y="3804401"/>
            <a:ext cx="1440000" cy="264425"/>
            <a:chOff x="4854483" y="3277202"/>
            <a:chExt cx="1440000" cy="26442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E826961-88A6-4FD0-86E7-469B3AF51715}"/>
                </a:ext>
              </a:extLst>
            </p:cNvPr>
            <p:cNvSpPr/>
            <p:nvPr/>
          </p:nvSpPr>
          <p:spPr>
            <a:xfrm>
              <a:off x="4854483" y="3277202"/>
              <a:ext cx="1440000" cy="264425"/>
            </a:xfrm>
            <a:prstGeom prst="rect">
              <a:avLst/>
            </a:prstGeom>
            <a:solidFill>
              <a:srgbClr val="9CCB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27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           </a:t>
              </a:r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62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</a:t>
              </a:r>
              <a:endParaRPr lang="zh-HK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D4577682-93C1-FDD5-8ECB-75898A900ACA}"/>
                </a:ext>
              </a:extLst>
            </p:cNvPr>
            <p:cNvCxnSpPr/>
            <p:nvPr/>
          </p:nvCxnSpPr>
          <p:spPr>
            <a:xfrm>
              <a:off x="5382533" y="3409413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圖片 36">
            <a:extLst>
              <a:ext uri="{FF2B5EF4-FFF2-40B4-BE49-F238E27FC236}">
                <a16:creationId xmlns:a16="http://schemas.microsoft.com/office/drawing/2014/main" id="{9BBF0E0D-A510-9568-FCB8-8BCB48F7037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7960" r="3980" b="5164"/>
          <a:stretch>
            <a:fillRect/>
          </a:stretch>
        </p:blipFill>
        <p:spPr bwMode="auto">
          <a:xfrm>
            <a:off x="7137031" y="1630404"/>
            <a:ext cx="1439999" cy="1472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AutoShape 28">
            <a:extLst>
              <a:ext uri="{FF2B5EF4-FFF2-40B4-BE49-F238E27FC236}">
                <a16:creationId xmlns:a16="http://schemas.microsoft.com/office/drawing/2014/main" id="{6E598539-2174-5D91-360A-06DC86FD2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8673" y="928832"/>
            <a:ext cx="854075" cy="631826"/>
          </a:xfrm>
          <a:prstGeom prst="upArrow">
            <a:avLst>
              <a:gd name="adj1" fmla="val 49870"/>
              <a:gd name="adj2" fmla="val 61069"/>
            </a:avLst>
          </a:prstGeom>
          <a:solidFill>
            <a:srgbClr val="83B83B"/>
          </a:solidFill>
          <a:ln w="9525">
            <a:noFill/>
            <a:miter lim="800000"/>
            <a:headEnd/>
            <a:tailEnd/>
          </a:ln>
        </p:spPr>
        <p:txBody>
          <a:bodyPr rot="0" vert="eaVert" wrap="square" lIns="91440" tIns="45721" rIns="91440" bIns="45721" anchor="t" anchorCtr="0" upright="1">
            <a:noAutofit/>
          </a:bodyPr>
          <a:lstStyle/>
          <a:p>
            <a:endParaRPr lang="zh-TW" altLang="en-US" sz="180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8C4CC736-A5EE-EC93-AB01-01AE4836AD03}"/>
              </a:ext>
            </a:extLst>
          </p:cNvPr>
          <p:cNvSpPr txBox="1"/>
          <p:nvPr/>
        </p:nvSpPr>
        <p:spPr>
          <a:xfrm>
            <a:off x="8447392" y="2296309"/>
            <a:ext cx="771908" cy="3231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HK" sz="15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 31</a:t>
            </a:r>
            <a:r>
              <a:rPr lang="zh-TW" altLang="en-US" sz="15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</a:t>
            </a:r>
            <a:endParaRPr lang="zh-HK" altLang="en-US" sz="15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45" name="直線單箭頭接點 44">
            <a:extLst>
              <a:ext uri="{FF2B5EF4-FFF2-40B4-BE49-F238E27FC236}">
                <a16:creationId xmlns:a16="http://schemas.microsoft.com/office/drawing/2014/main" id="{4004F12B-B92B-4376-1131-4736CCFE97BB}"/>
              </a:ext>
            </a:extLst>
          </p:cNvPr>
          <p:cNvCxnSpPr/>
          <p:nvPr/>
        </p:nvCxnSpPr>
        <p:spPr>
          <a:xfrm>
            <a:off x="7273905" y="3955001"/>
            <a:ext cx="36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39E09C64-F624-66B6-F456-6BF577D49EC1}"/>
              </a:ext>
            </a:extLst>
          </p:cNvPr>
          <p:cNvGrpSpPr/>
          <p:nvPr/>
        </p:nvGrpSpPr>
        <p:grpSpPr>
          <a:xfrm>
            <a:off x="7143676" y="3804414"/>
            <a:ext cx="1440000" cy="264425"/>
            <a:chOff x="4854483" y="3277202"/>
            <a:chExt cx="1440000" cy="264425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FA08D6E-E5C7-84DD-B7E6-6ABAAFD78FF6}"/>
                </a:ext>
              </a:extLst>
            </p:cNvPr>
            <p:cNvSpPr/>
            <p:nvPr/>
          </p:nvSpPr>
          <p:spPr>
            <a:xfrm>
              <a:off x="4854483" y="3277202"/>
              <a:ext cx="1440000" cy="264425"/>
            </a:xfrm>
            <a:prstGeom prst="rect">
              <a:avLst/>
            </a:prstGeom>
            <a:solidFill>
              <a:srgbClr val="9CCB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65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           </a:t>
              </a:r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95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</a:t>
              </a:r>
              <a:endParaRPr lang="zh-HK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48" name="直線單箭頭接點 47">
              <a:extLst>
                <a:ext uri="{FF2B5EF4-FFF2-40B4-BE49-F238E27FC236}">
                  <a16:creationId xmlns:a16="http://schemas.microsoft.com/office/drawing/2014/main" id="{85FED7D5-DEC5-5685-C5AA-F5DB923BF97B}"/>
                </a:ext>
              </a:extLst>
            </p:cNvPr>
            <p:cNvCxnSpPr/>
            <p:nvPr/>
          </p:nvCxnSpPr>
          <p:spPr>
            <a:xfrm>
              <a:off x="5382533" y="3409413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D6C160CA-6955-7C70-EB5B-5D5B1E2635D8}"/>
              </a:ext>
            </a:extLst>
          </p:cNvPr>
          <p:cNvSpPr/>
          <p:nvPr/>
        </p:nvSpPr>
        <p:spPr>
          <a:xfrm>
            <a:off x="1192019" y="5407611"/>
            <a:ext cx="4317091" cy="719475"/>
          </a:xfrm>
          <a:prstGeom prst="rect">
            <a:avLst/>
          </a:prstGeom>
          <a:solidFill>
            <a:srgbClr val="C5E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3DD99B65-126A-2A9F-9796-6A9AB63C9B99}"/>
              </a:ext>
            </a:extLst>
          </p:cNvPr>
          <p:cNvSpPr txBox="1"/>
          <p:nvPr/>
        </p:nvSpPr>
        <p:spPr>
          <a:xfrm>
            <a:off x="10173757" y="70001"/>
            <a:ext cx="1943305" cy="55399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TW" altLang="en-US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实际回报年利率</a:t>
            </a:r>
            <a:br>
              <a:rPr lang="en-US" altLang="zh-TW" sz="15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500" b="1" u="sng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XX%</a:t>
            </a:r>
            <a:endParaRPr lang="zh-HK" altLang="en-US" sz="1500" u="sng" dirty="0">
              <a:solidFill>
                <a:srgbClr val="FF0000"/>
              </a:solidFill>
            </a:endParaRPr>
          </a:p>
        </p:txBody>
      </p:sp>
      <p:sp>
        <p:nvSpPr>
          <p:cNvPr id="52" name="箭號: 向上 51">
            <a:extLst>
              <a:ext uri="{FF2B5EF4-FFF2-40B4-BE49-F238E27FC236}">
                <a16:creationId xmlns:a16="http://schemas.microsoft.com/office/drawing/2014/main" id="{96C815E1-BA21-D4E8-1168-A3652F4A078F}"/>
              </a:ext>
            </a:extLst>
          </p:cNvPr>
          <p:cNvSpPr/>
          <p:nvPr/>
        </p:nvSpPr>
        <p:spPr>
          <a:xfrm>
            <a:off x="4277349" y="4247962"/>
            <a:ext cx="1198358" cy="1244604"/>
          </a:xfrm>
          <a:prstGeom prst="upArrow">
            <a:avLst/>
          </a:prstGeom>
          <a:solidFill>
            <a:srgbClr val="C5E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>
              <a:solidFill>
                <a:srgbClr val="C5E0B4"/>
              </a:solidFill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1C844BB0-CE1A-A5E1-9D5A-59931BF20A78}"/>
              </a:ext>
            </a:extLst>
          </p:cNvPr>
          <p:cNvSpPr txBox="1"/>
          <p:nvPr/>
        </p:nvSpPr>
        <p:spPr>
          <a:xfrm>
            <a:off x="1311763" y="5448156"/>
            <a:ext cx="40776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投保人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彭先生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可于</a:t>
            </a:r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65-100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岁每年提取</a:t>
            </a:r>
            <a:b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zh-TW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200" b="1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{ 36</a:t>
            </a:r>
            <a:r>
              <a:rPr lang="zh-TW" altLang="en-US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年合共提取</a:t>
            </a:r>
            <a:r>
              <a:rPr lang="en-US" altLang="zh-TW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en-US" altLang="zh-HK" sz="1200" b="1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HK" sz="12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}</a:t>
            </a:r>
            <a:endParaRPr lang="zh-TW" altLang="en-US" sz="12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6FF2D61-5AB2-896B-0589-F09C54C9EB13}"/>
              </a:ext>
            </a:extLst>
          </p:cNvPr>
          <p:cNvSpPr/>
          <p:nvPr/>
        </p:nvSpPr>
        <p:spPr>
          <a:xfrm>
            <a:off x="8232748" y="5407611"/>
            <a:ext cx="3648208" cy="709842"/>
          </a:xfrm>
          <a:prstGeom prst="rect">
            <a:avLst/>
          </a:prstGeom>
          <a:solidFill>
            <a:srgbClr val="EAE1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1"/>
              </a:spcBef>
            </a:pP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子宸 </a:t>
            </a:r>
            <a:r>
              <a:rPr lang="en-US" altLang="zh-HK" sz="1200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</a:t>
            </a:r>
            <a:r>
              <a:rPr lang="zh-TW" altLang="en-US" sz="1200" kern="1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岁选择退保或传承，便有</a:t>
            </a:r>
            <a:r>
              <a:rPr lang="zh-TW" altLang="en-US" sz="1200" kern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UnicodeMS"/>
              </a:rPr>
              <a:t>一笔</a:t>
            </a:r>
            <a:br>
              <a:rPr lang="en-US" altLang="zh-TW" sz="1200" kern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UnicodeMS"/>
              </a:rPr>
            </a:br>
            <a:r>
              <a:rPr lang="zh-TW" altLang="en-US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美元</a:t>
            </a:r>
            <a:r>
              <a:rPr lang="en-US" altLang="zh-TW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(</a:t>
            </a:r>
            <a:r>
              <a:rPr lang="en-US" altLang="zh-HK" sz="1200" b="1" u="sng" kern="1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en-US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200" b="1" u="sng" kern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en-US" sz="1200" b="1" kern="100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6" name="箭號: 向上 55">
            <a:extLst>
              <a:ext uri="{FF2B5EF4-FFF2-40B4-BE49-F238E27FC236}">
                <a16:creationId xmlns:a16="http://schemas.microsoft.com/office/drawing/2014/main" id="{DCC347BE-EC62-73D8-5069-F8D964424341}"/>
              </a:ext>
            </a:extLst>
          </p:cNvPr>
          <p:cNvSpPr/>
          <p:nvPr/>
        </p:nvSpPr>
        <p:spPr>
          <a:xfrm>
            <a:off x="10031655" y="4220713"/>
            <a:ext cx="1198358" cy="1244604"/>
          </a:xfrm>
          <a:prstGeom prst="upArrow">
            <a:avLst/>
          </a:prstGeom>
          <a:solidFill>
            <a:srgbClr val="EAE1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>
              <a:solidFill>
                <a:srgbClr val="C5E0B4"/>
              </a:solidFill>
            </a:endParaRPr>
          </a:p>
        </p:txBody>
      </p:sp>
      <p:pic>
        <p:nvPicPr>
          <p:cNvPr id="58" name="圖片 57">
            <a:extLst>
              <a:ext uri="{FF2B5EF4-FFF2-40B4-BE49-F238E27FC236}">
                <a16:creationId xmlns:a16="http://schemas.microsoft.com/office/drawing/2014/main" id="{33D4FB01-D484-EB14-F58A-5C7BF5EAE29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l="7960" r="3980" b="5164"/>
          <a:stretch>
            <a:fillRect/>
          </a:stretch>
        </p:blipFill>
        <p:spPr bwMode="auto">
          <a:xfrm>
            <a:off x="9913321" y="1584269"/>
            <a:ext cx="1489789" cy="152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: 剪去單一角落 8">
            <a:extLst>
              <a:ext uri="{FF2B5EF4-FFF2-40B4-BE49-F238E27FC236}">
                <a16:creationId xmlns:a16="http://schemas.microsoft.com/office/drawing/2014/main" id="{D47DEA8F-2E8D-816F-F596-9E7B5D0D77E9}"/>
              </a:ext>
            </a:extLst>
          </p:cNvPr>
          <p:cNvSpPr/>
          <p:nvPr/>
        </p:nvSpPr>
        <p:spPr>
          <a:xfrm>
            <a:off x="0" y="160295"/>
            <a:ext cx="7200000" cy="720000"/>
          </a:xfrm>
          <a:prstGeom prst="snip1Rect">
            <a:avLst>
              <a:gd name="adj" fmla="val 50000"/>
            </a:avLst>
          </a:prstGeom>
          <a:solidFill>
            <a:srgbClr val="D312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HK" altLang="en-US" sz="3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00FB7AE-FD70-2643-ACD3-81BBB66876BB}"/>
              </a:ext>
            </a:extLst>
          </p:cNvPr>
          <p:cNvSpPr txBox="1"/>
          <p:nvPr/>
        </p:nvSpPr>
        <p:spPr>
          <a:xfrm>
            <a:off x="316192" y="243296"/>
            <a:ext cx="65037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环宇盈活储蓄计划 </a:t>
            </a:r>
            <a:r>
              <a:rPr lang="en-US" altLang="zh-TW" sz="3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--- </a:t>
            </a:r>
            <a:r>
              <a:rPr lang="zh-TW" altLang="en-US" sz="3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提取概览</a:t>
            </a:r>
            <a:endParaRPr lang="zh-HK" altLang="en-US" sz="30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C06D9045-C1F7-65F3-AD2E-719D6C5E894D}"/>
              </a:ext>
            </a:extLst>
          </p:cNvPr>
          <p:cNvCxnSpPr>
            <a:cxnSpLocks/>
          </p:cNvCxnSpPr>
          <p:nvPr/>
        </p:nvCxnSpPr>
        <p:spPr>
          <a:xfrm>
            <a:off x="720956" y="3560660"/>
            <a:ext cx="11160000" cy="5074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899F7E58-ACC1-15F2-90AA-167620AF9B69}"/>
              </a:ext>
            </a:extLst>
          </p:cNvPr>
          <p:cNvSpPr/>
          <p:nvPr/>
        </p:nvSpPr>
        <p:spPr>
          <a:xfrm>
            <a:off x="1003455" y="3428449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40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5F0D3B3-EA46-8C56-FAF1-429DA1DF3FF4}"/>
              </a:ext>
            </a:extLst>
          </p:cNvPr>
          <p:cNvSpPr/>
          <p:nvPr/>
        </p:nvSpPr>
        <p:spPr>
          <a:xfrm>
            <a:off x="2328053" y="3428449"/>
            <a:ext cx="607484" cy="264425"/>
          </a:xfrm>
          <a:prstGeom prst="rect">
            <a:avLst/>
          </a:prstGeom>
          <a:solidFill>
            <a:srgbClr val="FEB4A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44</a:t>
            </a:r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岁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DBF9A67-4C1F-8B00-5357-0274214C1E54}"/>
              </a:ext>
            </a:extLst>
          </p:cNvPr>
          <p:cNvSpPr/>
          <p:nvPr/>
        </p:nvSpPr>
        <p:spPr>
          <a:xfrm>
            <a:off x="33584" y="3435325"/>
            <a:ext cx="674993" cy="264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曲小姐</a:t>
            </a:r>
            <a:endParaRPr lang="zh-HK" altLang="en-US" sz="12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4682B477-0C75-CB32-2CF7-7E1251DE53D0}"/>
              </a:ext>
            </a:extLst>
          </p:cNvPr>
          <p:cNvGrpSpPr/>
          <p:nvPr/>
        </p:nvGrpSpPr>
        <p:grpSpPr>
          <a:xfrm>
            <a:off x="4120388" y="3428449"/>
            <a:ext cx="1440000" cy="264425"/>
            <a:chOff x="4854483" y="3277202"/>
            <a:chExt cx="1440000" cy="264425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0F1FEA4-7B2D-B758-9B8B-EC003F3039F2}"/>
                </a:ext>
              </a:extLst>
            </p:cNvPr>
            <p:cNvSpPr/>
            <p:nvPr/>
          </p:nvSpPr>
          <p:spPr>
            <a:xfrm>
              <a:off x="4854483" y="3277202"/>
              <a:ext cx="1440000" cy="264425"/>
            </a:xfrm>
            <a:prstGeom prst="rect">
              <a:avLst/>
            </a:prstGeom>
            <a:solidFill>
              <a:srgbClr val="9CCB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55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           </a:t>
              </a:r>
              <a:r>
                <a:rPr lang="en-US" altLang="zh-TW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90</a:t>
              </a:r>
              <a:r>
                <a:rPr lang="zh-TW" altLang="en-US" sz="12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岁</a:t>
              </a:r>
              <a:endParaRPr lang="zh-HK" altLang="en-US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44" name="直線單箭頭接點 43">
              <a:extLst>
                <a:ext uri="{FF2B5EF4-FFF2-40B4-BE49-F238E27FC236}">
                  <a16:creationId xmlns:a16="http://schemas.microsoft.com/office/drawing/2014/main" id="{DF22C08E-1B49-87BD-75A7-43CE5743E2C4}"/>
                </a:ext>
              </a:extLst>
            </p:cNvPr>
            <p:cNvCxnSpPr/>
            <p:nvPr/>
          </p:nvCxnSpPr>
          <p:spPr>
            <a:xfrm>
              <a:off x="5382533" y="3409413"/>
              <a:ext cx="36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C1E6E8F3-74E6-9666-3DBF-4E01565C4E4E}"/>
              </a:ext>
            </a:extLst>
          </p:cNvPr>
          <p:cNvSpPr txBox="1"/>
          <p:nvPr/>
        </p:nvSpPr>
        <p:spPr>
          <a:xfrm>
            <a:off x="6096000" y="6457890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*以美元兑</a:t>
            </a:r>
            <a:r>
              <a:rPr lang="zh-TW" altLang="en-US" sz="10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汇率</a:t>
            </a:r>
            <a:r>
              <a:rPr lang="en-US" altLang="zh-HK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6.8</a:t>
            </a: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计算*</a:t>
            </a:r>
            <a:br>
              <a:rPr lang="en-US" altLang="zh-HK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1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以上数据只供参考, 详情请参阅建议书</a:t>
            </a:r>
          </a:p>
        </p:txBody>
      </p:sp>
    </p:spTree>
    <p:extLst>
      <p:ext uri="{BB962C8B-B14F-4D97-AF65-F5344CB8AC3E}">
        <p14:creationId xmlns:p14="http://schemas.microsoft.com/office/powerpoint/2010/main" val="3332942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th">
            <a:extLst>
              <a:ext uri="{FF2B5EF4-FFF2-40B4-BE49-F238E27FC236}">
                <a16:creationId xmlns:a16="http://schemas.microsoft.com/office/drawing/2014/main" id="{DE361A45-8578-9338-091B-5AD159209EA6}"/>
              </a:ext>
            </a:extLst>
          </p:cNvPr>
          <p:cNvSpPr/>
          <p:nvPr/>
        </p:nvSpPr>
        <p:spPr>
          <a:xfrm>
            <a:off x="6939967" y="5482579"/>
            <a:ext cx="3078029" cy="1304182"/>
          </a:xfrm>
          <a:custGeom>
            <a:avLst/>
            <a:gdLst/>
            <a:ahLst/>
            <a:cxnLst/>
            <a:rect l="0" t="0" r="0" b="0"/>
            <a:pathLst>
              <a:path w="6828" h="2265">
                <a:moveTo>
                  <a:pt x="3414" y="608"/>
                </a:moveTo>
                <a:lnTo>
                  <a:pt x="4590" y="0"/>
                </a:lnTo>
                <a:lnTo>
                  <a:pt x="4474" y="558"/>
                </a:lnTo>
                <a:lnTo>
                  <a:pt x="5810" y="467"/>
                </a:lnTo>
                <a:lnTo>
                  <a:pt x="5279" y="767"/>
                </a:lnTo>
                <a:lnTo>
                  <a:pt x="6669" y="853"/>
                </a:lnTo>
                <a:lnTo>
                  <a:pt x="5565" y="1098"/>
                </a:lnTo>
                <a:lnTo>
                  <a:pt x="6828" y="1393"/>
                </a:lnTo>
                <a:lnTo>
                  <a:pt x="5322" y="1357"/>
                </a:lnTo>
                <a:lnTo>
                  <a:pt x="5735" y="1897"/>
                </a:lnTo>
                <a:lnTo>
                  <a:pt x="4431" y="1516"/>
                </a:lnTo>
                <a:lnTo>
                  <a:pt x="4187" y="2070"/>
                </a:lnTo>
                <a:lnTo>
                  <a:pt x="3329" y="1566"/>
                </a:lnTo>
                <a:lnTo>
                  <a:pt x="2682" y="2265"/>
                </a:lnTo>
                <a:lnTo>
                  <a:pt x="2438" y="1639"/>
                </a:lnTo>
                <a:lnTo>
                  <a:pt x="1505" y="1847"/>
                </a:lnTo>
                <a:lnTo>
                  <a:pt x="1791" y="1461"/>
                </a:lnTo>
                <a:lnTo>
                  <a:pt x="42" y="1530"/>
                </a:lnTo>
                <a:lnTo>
                  <a:pt x="1176" y="1235"/>
                </a:lnTo>
                <a:lnTo>
                  <a:pt x="0" y="903"/>
                </a:lnTo>
                <a:lnTo>
                  <a:pt x="1462" y="799"/>
                </a:lnTo>
                <a:lnTo>
                  <a:pt x="117" y="240"/>
                </a:lnTo>
                <a:lnTo>
                  <a:pt x="2311" y="662"/>
                </a:lnTo>
                <a:lnTo>
                  <a:pt x="2640" y="240"/>
                </a:lnTo>
                <a:lnTo>
                  <a:pt x="3414" y="608"/>
                </a:lnTo>
                <a:close/>
              </a:path>
            </a:pathLst>
          </a:custGeom>
          <a:solidFill>
            <a:srgbClr val="FFC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AB790ACA-3BF6-786D-2FEF-5116C870AB5C}"/>
              </a:ext>
            </a:extLst>
          </p:cNvPr>
          <p:cNvSpPr/>
          <p:nvPr/>
        </p:nvSpPr>
        <p:spPr>
          <a:xfrm>
            <a:off x="7241141" y="5768345"/>
            <a:ext cx="2509547" cy="85258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12700" algn="ctr" rtl="0" eaLnBrk="0">
              <a:lnSpc>
                <a:spcPct val="92000"/>
              </a:lnSpc>
            </a:pPr>
            <a:r>
              <a:rPr sz="2000" b="1" spc="-50" dirty="0" err="1">
                <a:solidFill>
                  <a:srgbClr val="FF0000">
                    <a:alpha val="10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</a:rPr>
              <a:t>共节省</a:t>
            </a:r>
            <a:r>
              <a:rPr sz="2000" b="1" spc="-50" dirty="0">
                <a:solidFill>
                  <a:srgbClr val="FF0000">
                    <a:alpha val="10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</a:rPr>
              <a:t>：</a:t>
            </a:r>
            <a:br>
              <a:rPr lang="en-US" sz="2000" b="1" spc="-50" dirty="0">
                <a:solidFill>
                  <a:srgbClr val="FF0000">
                    <a:alpha val="100000"/>
                  </a:srgb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</a:rPr>
            </a:br>
            <a:r>
              <a:rPr lang="zh-TW" altLang="en-US" sz="2000" b="1" spc="-5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</a:rPr>
              <a:t>美</a:t>
            </a:r>
            <a:r>
              <a:rPr lang="zh-HK" altLang="en-US" sz="2000" b="1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</a:t>
            </a:r>
            <a:br>
              <a:rPr lang="en-US" altLang="zh-HK" sz="2000" b="1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HK" sz="1500" b="1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500" b="1" i="0" u="none" strike="noStrike" kern="1200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人民币</a:t>
            </a:r>
            <a:r>
              <a:rPr lang="en-US" altLang="zh-TW" sz="1500" b="1" i="0" u="none" strike="noStrike" kern="1200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endParaRPr lang="en-US" altLang="en-US" sz="15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B3DFC0E-3F73-0FC1-E2F1-28FCE6AFBD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556964"/>
              </p:ext>
            </p:extLst>
          </p:nvPr>
        </p:nvGraphicFramePr>
        <p:xfrm>
          <a:off x="6642544" y="59624"/>
          <a:ext cx="5376665" cy="5476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0981">
                  <a:extLst>
                    <a:ext uri="{9D8B030D-6E8A-4147-A177-3AD203B41FA5}">
                      <a16:colId xmlns:a16="http://schemas.microsoft.com/office/drawing/2014/main" val="1118641459"/>
                    </a:ext>
                  </a:extLst>
                </a:gridCol>
                <a:gridCol w="3765684">
                  <a:extLst>
                    <a:ext uri="{9D8B030D-6E8A-4147-A177-3AD203B41FA5}">
                      <a16:colId xmlns:a16="http://schemas.microsoft.com/office/drawing/2014/main" val="3829995361"/>
                    </a:ext>
                  </a:extLst>
                </a:gridCol>
              </a:tblGrid>
              <a:tr h="1002714">
                <a:tc gridSpan="2">
                  <a:txBody>
                    <a:bodyPr/>
                    <a:lstStyle/>
                    <a:p>
                      <a:pPr marL="107950" algn="l" rtl="0" eaLnBrk="0">
                        <a:lnSpc>
                          <a:spcPct val="99000"/>
                        </a:lnSpc>
                        <a:spcBef>
                          <a:spcPts val="0"/>
                        </a:spcBef>
                      </a:pPr>
                      <a:r>
                        <a:rPr lang="zh-TW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环宇盈活储蓄计划</a:t>
                      </a:r>
                      <a:endParaRPr lang="zh-CN" altLang="en-US" sz="25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105410" algn="l" rtl="0" eaLnBrk="0">
                        <a:lnSpc>
                          <a:spcPct val="92000"/>
                        </a:lnSpc>
                        <a:spcBef>
                          <a:spcPts val="35"/>
                        </a:spcBef>
                      </a:pPr>
                      <a:r>
                        <a:rPr lang="zh-CN" altLang="en-US" sz="1800" b="1" spc="-4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保费：</a:t>
                      </a:r>
                      <a:r>
                        <a:rPr lang="zh-CN" altLang="en-US" sz="1800" spc="-4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zh-CN" altLang="en-US" sz="1800" b="1" spc="-4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 </a:t>
                      </a:r>
                      <a:r>
                        <a:rPr lang="en-US" altLang="zh-CN" sz="1800" b="1" spc="-4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100,000</a:t>
                      </a:r>
                      <a:endParaRPr lang="zh-HK" altLang="en-US" sz="1800" dirty="0">
                        <a:solidFill>
                          <a:schemeClr val="bg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0E4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5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409264"/>
                  </a:ext>
                </a:extLst>
              </a:tr>
              <a:tr h="1048197"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80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保费回赠：</a:t>
                      </a:r>
                      <a:endParaRPr lang="zh-HK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客户于</a:t>
                      </a:r>
                      <a:r>
                        <a:rPr lang="en-US" altLang="zh-CN" sz="1800" b="1" i="1" u="sng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2026</a:t>
                      </a:r>
                      <a:r>
                        <a:rPr lang="zh-CN" altLang="en-US" sz="1800" b="1" i="1" u="sng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年</a:t>
                      </a:r>
                      <a:r>
                        <a:rPr lang="en-US" altLang="zh-CN" sz="1800" b="1" i="1" u="sng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9</a:t>
                      </a:r>
                      <a:r>
                        <a:rPr lang="zh-CN" altLang="en-US" sz="1800" b="1" i="1" u="sng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月</a:t>
                      </a:r>
                      <a:r>
                        <a:rPr lang="en-US" altLang="zh-CN" sz="1800" b="1" i="1" u="sng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30</a:t>
                      </a:r>
                      <a:r>
                        <a:rPr lang="zh-CN" altLang="en-US" sz="1800" b="1" i="1" u="sng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日前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成功投</a:t>
                      </a:r>
                    </a:p>
                    <a:p>
                      <a:pPr algn="l"/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保「</a:t>
                      </a:r>
                      <a:r>
                        <a:rPr lang="zh-TW" altLang="en-US" sz="1800" b="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环宇盈活储蓄计划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」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年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 ,</a:t>
                      </a:r>
                      <a:r>
                        <a:rPr lang="zh-CN" altLang="en-US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可享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XX%</a:t>
                      </a:r>
                      <a:r>
                        <a:rPr lang="zh-CN" altLang="en-US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保费回赠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</a:t>
                      </a:r>
                      <a:r>
                        <a:rPr lang="zh-CN" altLang="en-US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即</a:t>
                      </a:r>
                      <a:r>
                        <a:rPr lang="zh-HK" altLang="en-US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美元</a:t>
                      </a:r>
                      <a:r>
                        <a:rPr lang="en-US" altLang="zh-HK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XX (</a:t>
                      </a:r>
                      <a:r>
                        <a:rPr lang="zh-TW" altLang="en-US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人民币</a:t>
                      </a:r>
                      <a:r>
                        <a:rPr lang="en-US" altLang="zh-TW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XX</a:t>
                      </a:r>
                      <a:r>
                        <a:rPr lang="en-US" altLang="zh-HK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endParaRPr lang="en-US" altLang="en-US" sz="1800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411014"/>
                  </a:ext>
                </a:extLst>
              </a:tr>
              <a:tr h="1048197"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80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详情</a:t>
                      </a:r>
                      <a:r>
                        <a:rPr lang="zh-HK" altLang="en-US" sz="180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：</a:t>
                      </a:r>
                      <a:endParaRPr lang="zh-HK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保费回赠将于首个保单周</a:t>
                      </a:r>
                      <a:r>
                        <a:rPr lang="zh-CN" altLang="en-US"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年日后</a:t>
                      </a:r>
                      <a:r>
                        <a:rPr lang="zh-CN" altLang="en-US" sz="1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的下一期保费到期日时用</a:t>
                      </a:r>
                      <a:r>
                        <a:rPr lang="zh-CN" altLang="en-US"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作抵销</a:t>
                      </a:r>
                      <a:r>
                        <a:rPr lang="zh-CN" altLang="en-US" sz="18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保费</a:t>
                      </a:r>
                      <a:endParaRPr lang="zh-CN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630740"/>
                  </a:ext>
                </a:extLst>
              </a:tr>
              <a:tr h="1048197"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电子保</a:t>
                      </a:r>
                      <a:r>
                        <a:rPr lang="zh-CN" altLang="en-US"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费</a:t>
                      </a:r>
                      <a:r>
                        <a:rPr lang="zh-CN" altLang="en-US" sz="18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现金券</a:t>
                      </a:r>
                      <a:r>
                        <a:rPr lang="zh-CN" altLang="en-US"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：</a:t>
                      </a:r>
                      <a:endParaRPr lang="zh-CN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现时你的友邦账户没有现金券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,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会转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张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美元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1,250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及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张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美元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63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的现金券入你的友邦账户</a:t>
                      </a: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，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合共</a:t>
                      </a:r>
                      <a:r>
                        <a:rPr lang="zh-TW" altLang="en-US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美元</a:t>
                      </a:r>
                      <a:r>
                        <a:rPr lang="en-US" altLang="zh-TW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XX(</a:t>
                      </a:r>
                      <a:r>
                        <a:rPr lang="zh-TW" altLang="en-US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人民币</a:t>
                      </a:r>
                      <a:r>
                        <a:rPr lang="en-US" altLang="zh-TW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XX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rgbClr val="FF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endParaRPr lang="en-US" altLang="en-US" sz="1800" b="1" dirty="0">
                        <a:solidFill>
                          <a:srgbClr val="FF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6846"/>
                  </a:ext>
                </a:extLst>
              </a:tr>
              <a:tr h="1048197"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80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详情</a:t>
                      </a:r>
                      <a:r>
                        <a:rPr lang="zh-HK" altLang="en-US" sz="180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：</a:t>
                      </a:r>
                      <a:endParaRPr lang="zh-HK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电子保费现金券会自动转到客户友邦账户，投保时自动扣除。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211440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8A1698E9-733E-F66F-BFF2-AC6CC8CF36FB}"/>
              </a:ext>
            </a:extLst>
          </p:cNvPr>
          <p:cNvSpPr/>
          <p:nvPr/>
        </p:nvSpPr>
        <p:spPr>
          <a:xfrm>
            <a:off x="172789" y="0"/>
            <a:ext cx="6271971" cy="6858000"/>
          </a:xfrm>
          <a:prstGeom prst="rect">
            <a:avLst/>
          </a:prstGeom>
          <a:solidFill>
            <a:srgbClr val="CFCF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639691D-2DFD-737D-7EE0-224C4B5E69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408350"/>
              </p:ext>
            </p:extLst>
          </p:nvPr>
        </p:nvGraphicFramePr>
        <p:xfrm>
          <a:off x="258566" y="3594873"/>
          <a:ext cx="6100416" cy="307308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223439">
                  <a:extLst>
                    <a:ext uri="{9D8B030D-6E8A-4147-A177-3AD203B41FA5}">
                      <a16:colId xmlns:a16="http://schemas.microsoft.com/office/drawing/2014/main" val="3907818881"/>
                    </a:ext>
                  </a:extLst>
                </a:gridCol>
                <a:gridCol w="2876977">
                  <a:extLst>
                    <a:ext uri="{9D8B030D-6E8A-4147-A177-3AD203B41FA5}">
                      <a16:colId xmlns:a16="http://schemas.microsoft.com/office/drawing/2014/main" val="594443837"/>
                    </a:ext>
                  </a:extLst>
                </a:gridCol>
              </a:tblGrid>
              <a:tr h="619134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200000"/>
                        </a:lnSpc>
                      </a:pPr>
                      <a:r>
                        <a:rPr lang="zh-TW" altLang="en-US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</a:t>
                      </a:r>
                      <a:r>
                        <a:rPr lang="en-US" altLang="zh-TW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年缴费 </a:t>
                      </a:r>
                      <a:r>
                        <a:rPr lang="en-US" altLang="zh-TW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7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已</a:t>
                      </a:r>
                      <a:r>
                        <a:rPr lang="zh-TW" altLang="en-US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扣减</a:t>
                      </a:r>
                      <a:r>
                        <a:rPr lang="zh-CN" altLang="en-US" sz="1700" b="1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保</a:t>
                      </a:r>
                      <a:r>
                        <a:rPr lang="zh-CN" altLang="en-US" sz="1700" b="1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费</a:t>
                      </a:r>
                      <a:r>
                        <a:rPr lang="zh-CN" altLang="en-US" sz="1700" b="1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现金券</a:t>
                      </a:r>
                      <a:r>
                        <a:rPr lang="en-US" altLang="zh-TW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en-US" altLang="en-US" sz="17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700" b="1" i="0" u="none" strike="noStrike" kern="1200" baseline="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美元</a:t>
                      </a:r>
                      <a:endParaRPr lang="en-US" altLang="en-US" sz="17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428944"/>
                  </a:ext>
                </a:extLst>
              </a:tr>
              <a:tr h="612862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200000"/>
                        </a:lnSpc>
                      </a:pPr>
                      <a:r>
                        <a:rPr lang="zh-TW" altLang="en-US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</a:t>
                      </a:r>
                      <a:r>
                        <a:rPr lang="en-US" altLang="zh-TW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年缴费 </a:t>
                      </a:r>
                      <a:r>
                        <a:rPr lang="en-US" altLang="zh-TW" sz="17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zh-TW" altLang="en-US" sz="17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已扣减</a:t>
                      </a:r>
                      <a:r>
                        <a:rPr lang="zh-TW" altLang="en-US" sz="1700" b="1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保费回赠</a:t>
                      </a:r>
                      <a:r>
                        <a:rPr lang="en-US" altLang="zh-TW" sz="17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)</a:t>
                      </a:r>
                      <a:endParaRPr lang="en-US" altLang="en-US" sz="17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700" b="1" i="0" u="none" strike="noStrike" kern="1200" baseline="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美元</a:t>
                      </a:r>
                      <a:endParaRPr lang="en-US" altLang="en-US" sz="17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896231"/>
                  </a:ext>
                </a:extLst>
              </a:tr>
              <a:tr h="613696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200000"/>
                        </a:lnSpc>
                      </a:pPr>
                      <a:r>
                        <a:rPr lang="zh-TW" altLang="en-US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</a:t>
                      </a:r>
                      <a:r>
                        <a:rPr lang="en-US" altLang="zh-TW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年缴费</a:t>
                      </a:r>
                      <a:endParaRPr lang="en-US" altLang="en-US" sz="17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700" b="1" i="0" u="none" strike="noStrike" kern="1200" baseline="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美元</a:t>
                      </a:r>
                      <a:endParaRPr lang="en-US" altLang="en-US" sz="17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852821"/>
                  </a:ext>
                </a:extLst>
              </a:tr>
              <a:tr h="613696">
                <a:tc>
                  <a:txBody>
                    <a:bodyPr/>
                    <a:lstStyle/>
                    <a:p>
                      <a:pPr algn="ctr" rtl="0" eaLnBrk="0">
                        <a:lnSpc>
                          <a:spcPct val="200000"/>
                        </a:lnSpc>
                      </a:pPr>
                      <a:r>
                        <a:rPr lang="zh-TW" altLang="en-US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</a:t>
                      </a:r>
                      <a:r>
                        <a:rPr lang="en-US" altLang="zh-TW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年缴费</a:t>
                      </a:r>
                      <a:endParaRPr lang="en-US" altLang="en-US" sz="17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700" b="1" i="0" u="none" strike="noStrike" kern="1200" baseline="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美元</a:t>
                      </a:r>
                      <a:endParaRPr lang="en-US" altLang="en-US" sz="17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210582"/>
                  </a:ext>
                </a:extLst>
              </a:tr>
              <a:tr h="613696">
                <a:tc>
                  <a:txBody>
                    <a:bodyPr/>
                    <a:lstStyle/>
                    <a:p>
                      <a:pPr marL="0" marR="0" lvl="0" indent="0" algn="ctr" defTabSz="457200" rtl="0" eaLnBrk="0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</a:t>
                      </a:r>
                      <a:r>
                        <a:rPr lang="en-US" altLang="zh-TW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17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年缴费</a:t>
                      </a:r>
                      <a:endParaRPr lang="en-US" altLang="en-US" sz="17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700" b="1" i="0" u="none" strike="noStrike" kern="1200" baseline="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美元</a:t>
                      </a:r>
                      <a:endParaRPr lang="en-US" altLang="en-US" sz="17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1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953722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E0BDDB46-BCA9-77B6-C740-2F29C22A7BF4}"/>
              </a:ext>
            </a:extLst>
          </p:cNvPr>
          <p:cNvSpPr txBox="1"/>
          <p:nvPr/>
        </p:nvSpPr>
        <p:spPr>
          <a:xfrm>
            <a:off x="8495915" y="6483291"/>
            <a:ext cx="3696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HK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*以美元兑</a:t>
            </a:r>
            <a:r>
              <a:rPr lang="zh-TW" altLang="en-US" sz="900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zh-HK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汇率</a:t>
            </a:r>
            <a:r>
              <a:rPr lang="en-US" altLang="zh-HK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6.8</a:t>
            </a:r>
            <a:r>
              <a:rPr lang="zh-HK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计算*</a:t>
            </a:r>
            <a:br>
              <a:rPr lang="en-US" altLang="zh-HK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以上数据只供参考, 详情请参阅</a:t>
            </a:r>
            <a:r>
              <a:rPr lang="zh-TW" altLang="en-US" sz="9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优惠小册子</a:t>
            </a:r>
            <a:endParaRPr lang="zh-HK" altLang="en-US" sz="9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C626D88F-DE69-40B2-9D99-F0FBCCE0E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76" y="0"/>
            <a:ext cx="1019048" cy="86666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F4FBC05-E64B-EFAD-D4CC-9A6FFDA51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245" y="162333"/>
            <a:ext cx="3333333" cy="3266667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14657F4-F6CD-1500-5F8E-E6DB1C1D20A0}"/>
              </a:ext>
            </a:extLst>
          </p:cNvPr>
          <p:cNvSpPr/>
          <p:nvPr/>
        </p:nvSpPr>
        <p:spPr>
          <a:xfrm>
            <a:off x="1965245" y="2458065"/>
            <a:ext cx="2174136" cy="186812"/>
          </a:xfrm>
          <a:prstGeom prst="rect">
            <a:avLst/>
          </a:prstGeom>
          <a:noFill/>
          <a:ln w="571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168995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BFD09-669A-FACD-07EC-0EAC1539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7121AB26-1D61-0918-5986-1CCE26655397}"/>
              </a:ext>
            </a:extLst>
          </p:cNvPr>
          <p:cNvSpPr/>
          <p:nvPr/>
        </p:nvSpPr>
        <p:spPr>
          <a:xfrm>
            <a:off x="1672518" y="5000293"/>
            <a:ext cx="7200000" cy="1354575"/>
          </a:xfrm>
          <a:prstGeom prst="roundRect">
            <a:avLst/>
          </a:prstGeom>
          <a:solidFill>
            <a:srgbClr val="33B6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>
              <a:solidFill>
                <a:schemeClr val="tx1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60D5DB5-E494-4246-D6B0-C3CA14572389}"/>
              </a:ext>
            </a:extLst>
          </p:cNvPr>
          <p:cNvSpPr txBox="1"/>
          <p:nvPr/>
        </p:nvSpPr>
        <p:spPr>
          <a:xfrm>
            <a:off x="1992219" y="5054332"/>
            <a:ext cx="662462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HK" altLang="en-US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优惠利息合共</a:t>
            </a:r>
            <a:br>
              <a:rPr lang="en-US" altLang="zh-HK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美元</a:t>
            </a:r>
            <a:r>
              <a:rPr lang="en-US" altLang="zh-HK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XXX</a:t>
            </a:r>
            <a:br>
              <a:rPr lang="en-US" altLang="zh-HK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HK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(4.3%</a:t>
            </a:r>
            <a:r>
              <a:rPr lang="zh-TW" altLang="en-US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首年年缴保费</a:t>
            </a:r>
            <a:r>
              <a:rPr lang="en-US" altLang="zh-HK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HK" altLang="en-US" sz="25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 descr="Pig Cartoon png download - 2048*2048 - Free Transparent Piggy Bank png  Download. - CleanPNG / KissPNG">
            <a:extLst>
              <a:ext uri="{FF2B5EF4-FFF2-40B4-BE49-F238E27FC236}">
                <a16:creationId xmlns:a16="http://schemas.microsoft.com/office/drawing/2014/main" id="{3E2BA60C-70AD-E0F0-0A88-EB109AA724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9333" y1="25556" x2="49333" y2="25556"/>
                        <a14:foregroundMark x1="54778" y1="30000" x2="54778" y2="30000"/>
                        <a14:foregroundMark x1="52889" y1="42444" x2="52889" y2="42444"/>
                        <a14:foregroundMark x1="48889" y1="53111" x2="48889" y2="53111"/>
                        <a14:foregroundMark x1="53222" y1="63111" x2="53222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409" t="18991" r="23787" b="5883"/>
          <a:stretch/>
        </p:blipFill>
        <p:spPr bwMode="auto">
          <a:xfrm>
            <a:off x="10077070" y="3734306"/>
            <a:ext cx="2112365" cy="312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628205E-554F-9ABC-F9BB-B8A35644B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008087"/>
              </p:ext>
            </p:extLst>
          </p:nvPr>
        </p:nvGraphicFramePr>
        <p:xfrm>
          <a:off x="4215237" y="2733383"/>
          <a:ext cx="2424004" cy="1982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004">
                  <a:extLst>
                    <a:ext uri="{9D8B030D-6E8A-4147-A177-3AD203B41FA5}">
                      <a16:colId xmlns:a16="http://schemas.microsoft.com/office/drawing/2014/main" val="2091708752"/>
                    </a:ext>
                  </a:extLst>
                </a:gridCol>
              </a:tblGrid>
              <a:tr h="6352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第</a:t>
                      </a:r>
                      <a:r>
                        <a:rPr lang="en-US" altLang="zh-CN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</a:t>
                      </a:r>
                      <a:r>
                        <a:rPr lang="zh-CN" altLang="en-US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个保单周年日</a:t>
                      </a:r>
                      <a:endParaRPr lang="zh-HK" altLang="en-US" sz="15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47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43019"/>
                  </a:ext>
                </a:extLst>
              </a:tr>
              <a:tr h="134768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 </a:t>
                      </a:r>
                      <a:r>
                        <a:rPr lang="en-US" altLang="zh-TW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 4.3%</a:t>
                      </a:r>
                      <a:br>
                        <a:rPr lang="en-US" altLang="zh-TW" sz="20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2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</a:t>
                      </a:r>
                      <a:endParaRPr lang="en-US" altLang="zh-TW" sz="2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613127"/>
                  </a:ext>
                </a:extLst>
              </a:tr>
            </a:tbl>
          </a:graphicData>
        </a:graphic>
      </p:graphicFrame>
      <p:grpSp>
        <p:nvGrpSpPr>
          <p:cNvPr id="18" name="群組 17">
            <a:extLst>
              <a:ext uri="{FF2B5EF4-FFF2-40B4-BE49-F238E27FC236}">
                <a16:creationId xmlns:a16="http://schemas.microsoft.com/office/drawing/2014/main" id="{EE636DA0-D280-2168-0A8B-7DCE1CCFE13A}"/>
              </a:ext>
            </a:extLst>
          </p:cNvPr>
          <p:cNvGrpSpPr/>
          <p:nvPr/>
        </p:nvGrpSpPr>
        <p:grpSpPr>
          <a:xfrm>
            <a:off x="9992020" y="82605"/>
            <a:ext cx="2112364" cy="1818043"/>
            <a:chOff x="745154" y="-15998"/>
            <a:chExt cx="2649041" cy="2279943"/>
          </a:xfrm>
          <a:solidFill>
            <a:srgbClr val="F04618"/>
          </a:solidFill>
        </p:grpSpPr>
        <p:sp>
          <p:nvSpPr>
            <p:cNvPr id="4" name="path">
              <a:extLst>
                <a:ext uri="{FF2B5EF4-FFF2-40B4-BE49-F238E27FC236}">
                  <a16:creationId xmlns:a16="http://schemas.microsoft.com/office/drawing/2014/main" id="{1FC12FD6-4790-A636-7B47-426803D4E832}"/>
                </a:ext>
              </a:extLst>
            </p:cNvPr>
            <p:cNvSpPr/>
            <p:nvPr/>
          </p:nvSpPr>
          <p:spPr>
            <a:xfrm>
              <a:off x="745154" y="-15998"/>
              <a:ext cx="2649041" cy="2279943"/>
            </a:xfrm>
            <a:custGeom>
              <a:avLst/>
              <a:gdLst/>
              <a:ahLst/>
              <a:cxnLst/>
              <a:rect l="0" t="0" r="0" b="0"/>
              <a:pathLst>
                <a:path w="6828" h="2265">
                  <a:moveTo>
                    <a:pt x="3414" y="608"/>
                  </a:moveTo>
                  <a:lnTo>
                    <a:pt x="4590" y="0"/>
                  </a:lnTo>
                  <a:lnTo>
                    <a:pt x="4474" y="558"/>
                  </a:lnTo>
                  <a:lnTo>
                    <a:pt x="5810" y="467"/>
                  </a:lnTo>
                  <a:lnTo>
                    <a:pt x="5279" y="767"/>
                  </a:lnTo>
                  <a:lnTo>
                    <a:pt x="6669" y="853"/>
                  </a:lnTo>
                  <a:lnTo>
                    <a:pt x="5565" y="1098"/>
                  </a:lnTo>
                  <a:lnTo>
                    <a:pt x="6828" y="1393"/>
                  </a:lnTo>
                  <a:lnTo>
                    <a:pt x="5322" y="1357"/>
                  </a:lnTo>
                  <a:lnTo>
                    <a:pt x="5735" y="1897"/>
                  </a:lnTo>
                  <a:lnTo>
                    <a:pt x="4431" y="1516"/>
                  </a:lnTo>
                  <a:lnTo>
                    <a:pt x="4187" y="2070"/>
                  </a:lnTo>
                  <a:lnTo>
                    <a:pt x="3329" y="1566"/>
                  </a:lnTo>
                  <a:lnTo>
                    <a:pt x="2682" y="2265"/>
                  </a:lnTo>
                  <a:lnTo>
                    <a:pt x="2438" y="1639"/>
                  </a:lnTo>
                  <a:lnTo>
                    <a:pt x="1505" y="1847"/>
                  </a:lnTo>
                  <a:lnTo>
                    <a:pt x="1791" y="1461"/>
                  </a:lnTo>
                  <a:lnTo>
                    <a:pt x="42" y="1530"/>
                  </a:lnTo>
                  <a:lnTo>
                    <a:pt x="1176" y="1235"/>
                  </a:lnTo>
                  <a:lnTo>
                    <a:pt x="0" y="903"/>
                  </a:lnTo>
                  <a:lnTo>
                    <a:pt x="1462" y="799"/>
                  </a:lnTo>
                  <a:lnTo>
                    <a:pt x="117" y="240"/>
                  </a:lnTo>
                  <a:lnTo>
                    <a:pt x="2311" y="662"/>
                  </a:lnTo>
                  <a:lnTo>
                    <a:pt x="2640" y="240"/>
                  </a:lnTo>
                  <a:lnTo>
                    <a:pt x="3414" y="608"/>
                  </a:lnTo>
                  <a:close/>
                </a:path>
              </a:pathLst>
            </a:custGeom>
            <a:grpFill/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dirty="0"/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1B33515D-D60E-B6DF-D6C6-4754EA20EE38}"/>
                </a:ext>
              </a:extLst>
            </p:cNvPr>
            <p:cNvSpPr txBox="1"/>
            <p:nvPr/>
          </p:nvSpPr>
          <p:spPr>
            <a:xfrm>
              <a:off x="1604521" y="666771"/>
              <a:ext cx="1011936" cy="8877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zh-HK" altLang="en-US" sz="2000" b="1" i="0" u="none" strike="noStrike" baseline="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限额</a:t>
              </a:r>
            </a:p>
            <a:p>
              <a:pPr algn="l"/>
              <a:r>
                <a:rPr lang="zh-HK" altLang="en-US" sz="2000" b="1" i="0" u="none" strike="noStrike" baseline="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优惠</a:t>
              </a:r>
              <a:endParaRPr lang="zh-HK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6" name="文字方塊 5">
            <a:extLst>
              <a:ext uri="{FF2B5EF4-FFF2-40B4-BE49-F238E27FC236}">
                <a16:creationId xmlns:a16="http://schemas.microsoft.com/office/drawing/2014/main" id="{220E4717-BC23-89CC-434C-EE7068F8C37E}"/>
              </a:ext>
            </a:extLst>
          </p:cNvPr>
          <p:cNvSpPr txBox="1"/>
          <p:nvPr/>
        </p:nvSpPr>
        <p:spPr>
          <a:xfrm>
            <a:off x="2295618" y="251589"/>
            <a:ext cx="626324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5500" b="1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环宇盈活储蓄计划</a:t>
            </a:r>
            <a:endParaRPr lang="zh-HK" altLang="en-US" sz="5500" b="1" dirty="0">
              <a:solidFill>
                <a:srgbClr val="F0461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75855AD-B588-291B-98EC-25B1F2F76A07}"/>
              </a:ext>
            </a:extLst>
          </p:cNvPr>
          <p:cNvSpPr txBox="1"/>
          <p:nvPr/>
        </p:nvSpPr>
        <p:spPr>
          <a:xfrm>
            <a:off x="2682946" y="1175759"/>
            <a:ext cx="6592494" cy="707886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zh-CN" altLang="en-US" sz="2600" b="1" i="0" u="none" strike="noStrike" baseline="0" dirty="0">
                <a:solidFill>
                  <a:srgbClr val="33B6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预缴</a:t>
            </a:r>
            <a:r>
              <a:rPr lang="en-US" altLang="zh-CN" sz="2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zh-CN" altLang="en-US" sz="2600" b="1" i="0" u="none" strike="noStrike" baseline="0" dirty="0">
                <a:solidFill>
                  <a:srgbClr val="33B6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保费享保证优惠年利率 </a:t>
            </a:r>
            <a:r>
              <a:rPr lang="en-US" altLang="zh-CN" sz="4000" b="1" i="0" u="none" strike="noStrike" baseline="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4.3%</a:t>
            </a:r>
            <a:endParaRPr lang="zh-HK" altLang="en-US" sz="40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A301D81-0AE6-D762-F7C7-4FB8A2AAD634}"/>
              </a:ext>
            </a:extLst>
          </p:cNvPr>
          <p:cNvSpPr txBox="1"/>
          <p:nvPr/>
        </p:nvSpPr>
        <p:spPr>
          <a:xfrm>
            <a:off x="1054778" y="2092238"/>
            <a:ext cx="87449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年缴保费美元</a:t>
            </a:r>
            <a:r>
              <a:rPr lang="en-US" altLang="zh-CN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XXX</a:t>
            </a:r>
            <a:r>
              <a:rPr lang="en-US" altLang="zh-CN" sz="2000" b="1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CN" altLang="en-US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投保</a:t>
            </a:r>
            <a:r>
              <a:rPr lang="zh-TW" altLang="en-US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时缴付首年保费及</a:t>
            </a:r>
            <a:r>
              <a:rPr lang="en-US" altLang="zh-TW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年预缴保费</a:t>
            </a:r>
            <a:r>
              <a:rPr lang="zh-TW" altLang="en-US" sz="2000" b="1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CN" altLang="en-US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即享利息回赠：</a:t>
            </a:r>
            <a:endParaRPr lang="zh-HK" altLang="en-US" sz="2000" b="1" dirty="0">
              <a:solidFill>
                <a:srgbClr val="F0461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C2FEF89B-1D43-31CC-D6AE-2A48F462C2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8" b="89744" l="10000" r="93913">
                        <a14:foregroundMark x1="42609" y1="6838" x2="42609" y2="6838"/>
                        <a14:foregroundMark x1="69565" y1="14957" x2="69565" y2="14957"/>
                        <a14:foregroundMark x1="63913" y1="86752" x2="63913" y2="86752"/>
                        <a14:foregroundMark x1="78261" y1="79487" x2="78261" y2="79487"/>
                        <a14:foregroundMark x1="87826" y1="65385" x2="87826" y2="65385"/>
                        <a14:foregroundMark x1="93913" y1="24786" x2="93913" y2="24786"/>
                        <a14:foregroundMark x1="23478" y1="29915" x2="23478" y2="29915"/>
                        <a14:foregroundMark x1="30000" y1="23077" x2="30000" y2="23077"/>
                        <a14:foregroundMark x1="36522" y1="17949" x2="36522" y2="17949"/>
                        <a14:foregroundMark x1="18261" y1="40598" x2="18261" y2="40598"/>
                        <a14:foregroundMark x1="14783" y1="47436" x2="14783" y2="47436"/>
                        <a14:foregroundMark x1="16087" y1="58120" x2="16087" y2="58120"/>
                        <a14:foregroundMark x1="19130" y1="64530" x2="19130" y2="64530"/>
                        <a14:foregroundMark x1="20435" y1="70085" x2="20435" y2="70085"/>
                        <a14:foregroundMark x1="23478" y1="76496" x2="23478" y2="76496"/>
                        <a14:foregroundMark x1="29565" y1="79060" x2="29565" y2="79060"/>
                        <a14:foregroundMark x1="33913" y1="82906" x2="33913" y2="82906"/>
                        <a14:foregroundMark x1="41304" y1="85470" x2="41304" y2="85470"/>
                        <a14:foregroundMark x1="49565" y1="86752" x2="49565" y2="86752"/>
                        <a14:foregroundMark x1="56957" y1="87179" x2="56957" y2="87179"/>
                        <a14:foregroundMark x1="83043" y1="72650" x2="83043" y2="72650"/>
                        <a14:foregroundMark x1="74348" y1="21795" x2="74348" y2="21795"/>
                        <a14:foregroundMark x1="54783" y1="10256" x2="54783" y2="10256"/>
                        <a14:foregroundMark x1="61304" y1="16667" x2="61304" y2="16667"/>
                        <a14:foregroundMark x1="87391" y1="39316" x2="87391" y2="39316"/>
                        <a14:foregroundMark x1="92174" y1="46154" x2="92174" y2="46154"/>
                        <a14:foregroundMark x1="89565" y1="56838" x2="88261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660" y="5000293"/>
            <a:ext cx="932707" cy="94892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120839D-7AE6-DF43-1144-2C2E530728B9}"/>
              </a:ext>
            </a:extLst>
          </p:cNvPr>
          <p:cNvSpPr txBox="1"/>
          <p:nvPr/>
        </p:nvSpPr>
        <p:spPr>
          <a:xfrm>
            <a:off x="-74405" y="6517217"/>
            <a:ext cx="66246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以上数据只供参考，详情请参阅计划书</a:t>
            </a:r>
            <a:br>
              <a:rPr lang="en-US" altLang="zh-CN" sz="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推广期由 </a:t>
            </a:r>
            <a:r>
              <a:rPr lang="en-US" altLang="zh-TW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日至 </a:t>
            </a:r>
            <a:r>
              <a:rPr lang="en-US" altLang="zh-TW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31</a:t>
            </a:r>
            <a:r>
              <a:rPr lang="zh-TW" altLang="en-US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，优惠名额有限及先到先得，额满即止。</a:t>
            </a:r>
            <a:endParaRPr lang="zh-HK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9295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52692-2811-BFF3-A45F-0C7AAEE09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9BA83D76-849F-6298-0338-E42907269EE0}"/>
              </a:ext>
            </a:extLst>
          </p:cNvPr>
          <p:cNvSpPr/>
          <p:nvPr/>
        </p:nvSpPr>
        <p:spPr>
          <a:xfrm>
            <a:off x="1672518" y="5000293"/>
            <a:ext cx="7200000" cy="1354575"/>
          </a:xfrm>
          <a:prstGeom prst="roundRect">
            <a:avLst/>
          </a:prstGeom>
          <a:solidFill>
            <a:srgbClr val="33B6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>
              <a:solidFill>
                <a:schemeClr val="tx1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A1AAEA4-270D-B0E3-097A-273B4E4220DF}"/>
              </a:ext>
            </a:extLst>
          </p:cNvPr>
          <p:cNvSpPr txBox="1"/>
          <p:nvPr/>
        </p:nvSpPr>
        <p:spPr>
          <a:xfrm>
            <a:off x="1992219" y="5054332"/>
            <a:ext cx="662462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HK" altLang="en-US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优惠利息合共</a:t>
            </a:r>
            <a:br>
              <a:rPr lang="en-US" altLang="zh-HK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美元</a:t>
            </a:r>
            <a:r>
              <a:rPr lang="en-US" altLang="zh-HK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br>
              <a:rPr lang="en-US" altLang="zh-HK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HK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(40.9%</a:t>
            </a:r>
            <a:r>
              <a:rPr lang="zh-TW" altLang="en-US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首年年缴保费</a:t>
            </a:r>
            <a:r>
              <a:rPr lang="en-US" altLang="zh-HK" sz="25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HK" altLang="en-US" sz="25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26" name="Picture 2" descr="Pig Cartoon png download - 2048*2048 - Free Transparent Piggy Bank png  Download. - CleanPNG / KissPNG">
            <a:extLst>
              <a:ext uri="{FF2B5EF4-FFF2-40B4-BE49-F238E27FC236}">
                <a16:creationId xmlns:a16="http://schemas.microsoft.com/office/drawing/2014/main" id="{C76CDD83-FA1B-5D9B-C9E3-D141101EB7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9333" y1="25556" x2="49333" y2="25556"/>
                        <a14:foregroundMark x1="54778" y1="30000" x2="54778" y2="30000"/>
                        <a14:foregroundMark x1="52889" y1="42444" x2="52889" y2="42444"/>
                        <a14:foregroundMark x1="48889" y1="53111" x2="48889" y2="53111"/>
                        <a14:foregroundMark x1="53222" y1="63111" x2="53222" y2="63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409" t="18991" r="23787" b="5883"/>
          <a:stretch/>
        </p:blipFill>
        <p:spPr bwMode="auto">
          <a:xfrm>
            <a:off x="10077070" y="3734306"/>
            <a:ext cx="2112365" cy="312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53D81F72-49E7-663A-AD45-1F519778E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744649"/>
              </p:ext>
            </p:extLst>
          </p:nvPr>
        </p:nvGraphicFramePr>
        <p:xfrm>
          <a:off x="397115" y="2791174"/>
          <a:ext cx="10060248" cy="1984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5062">
                  <a:extLst>
                    <a:ext uri="{9D8B030D-6E8A-4147-A177-3AD203B41FA5}">
                      <a16:colId xmlns:a16="http://schemas.microsoft.com/office/drawing/2014/main" val="2091708752"/>
                    </a:ext>
                  </a:extLst>
                </a:gridCol>
                <a:gridCol w="2515062">
                  <a:extLst>
                    <a:ext uri="{9D8B030D-6E8A-4147-A177-3AD203B41FA5}">
                      <a16:colId xmlns:a16="http://schemas.microsoft.com/office/drawing/2014/main" val="43755271"/>
                    </a:ext>
                  </a:extLst>
                </a:gridCol>
                <a:gridCol w="2515062">
                  <a:extLst>
                    <a:ext uri="{9D8B030D-6E8A-4147-A177-3AD203B41FA5}">
                      <a16:colId xmlns:a16="http://schemas.microsoft.com/office/drawing/2014/main" val="202873324"/>
                    </a:ext>
                  </a:extLst>
                </a:gridCol>
                <a:gridCol w="2515062">
                  <a:extLst>
                    <a:ext uri="{9D8B030D-6E8A-4147-A177-3AD203B41FA5}">
                      <a16:colId xmlns:a16="http://schemas.microsoft.com/office/drawing/2014/main" val="3662419825"/>
                    </a:ext>
                  </a:extLst>
                </a:gridCol>
              </a:tblGrid>
              <a:tr h="636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第</a:t>
                      </a:r>
                      <a:r>
                        <a:rPr lang="en-US" altLang="zh-CN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</a:t>
                      </a:r>
                      <a:r>
                        <a:rPr lang="zh-CN" altLang="en-US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个保单周年日</a:t>
                      </a:r>
                      <a:endParaRPr lang="zh-HK" altLang="en-US" sz="15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47A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第</a:t>
                      </a:r>
                      <a:r>
                        <a:rPr lang="en-US" altLang="zh-CN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</a:t>
                      </a:r>
                      <a:r>
                        <a:rPr lang="zh-CN" altLang="en-US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个保单周年日</a:t>
                      </a:r>
                      <a:endParaRPr lang="zh-HK" altLang="en-US" sz="15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47A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第</a:t>
                      </a:r>
                      <a:r>
                        <a:rPr lang="en-US" altLang="zh-CN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</a:t>
                      </a:r>
                      <a:r>
                        <a:rPr lang="zh-CN" altLang="en-US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个保单周年日</a:t>
                      </a:r>
                      <a:endParaRPr lang="zh-HK" altLang="en-US" sz="15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47A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第</a:t>
                      </a:r>
                      <a:r>
                        <a:rPr lang="en-US" altLang="zh-CN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</a:t>
                      </a:r>
                      <a:r>
                        <a:rPr lang="zh-CN" altLang="en-US" sz="1500" b="1" i="0" u="none" strike="noStrike" kern="1200" baseline="0" dirty="0">
                          <a:solidFill>
                            <a:schemeClr val="lt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个保单周年日</a:t>
                      </a:r>
                      <a:endParaRPr lang="zh-HK" altLang="en-US" sz="15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rgbClr val="F47A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43019"/>
                  </a:ext>
                </a:extLst>
              </a:tr>
              <a:tr h="1347686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 </a:t>
                      </a:r>
                      <a: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 3.8%</a:t>
                      </a:r>
                      <a:b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2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</a:t>
                      </a:r>
                      <a:endParaRPr lang="en-US" altLang="zh-TW" sz="2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 </a:t>
                      </a:r>
                      <a: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 3.8%</a:t>
                      </a:r>
                      <a:b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2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</a:t>
                      </a:r>
                      <a:endParaRPr lang="en-US" altLang="zh-TW" sz="2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 </a:t>
                      </a:r>
                      <a: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 3.8%</a:t>
                      </a:r>
                      <a:b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2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</a:t>
                      </a:r>
                      <a:endParaRPr lang="en-US" altLang="zh-TW" sz="2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 </a:t>
                      </a:r>
                      <a: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x 3.8%</a:t>
                      </a:r>
                      <a:br>
                        <a:rPr lang="en-US" altLang="zh-TW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2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</a:t>
                      </a:r>
                      <a:endParaRPr lang="en-US" altLang="zh-TW" sz="2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613127"/>
                  </a:ext>
                </a:extLst>
              </a:tr>
            </a:tbl>
          </a:graphicData>
        </a:graphic>
      </p:graphicFrame>
      <p:grpSp>
        <p:nvGrpSpPr>
          <p:cNvPr id="18" name="群組 17">
            <a:extLst>
              <a:ext uri="{FF2B5EF4-FFF2-40B4-BE49-F238E27FC236}">
                <a16:creationId xmlns:a16="http://schemas.microsoft.com/office/drawing/2014/main" id="{8676E820-FFF2-73E6-133E-0F2BF393643C}"/>
              </a:ext>
            </a:extLst>
          </p:cNvPr>
          <p:cNvGrpSpPr/>
          <p:nvPr/>
        </p:nvGrpSpPr>
        <p:grpSpPr>
          <a:xfrm>
            <a:off x="9992020" y="82605"/>
            <a:ext cx="2112364" cy="1818043"/>
            <a:chOff x="745154" y="-15998"/>
            <a:chExt cx="2649041" cy="2279943"/>
          </a:xfrm>
          <a:solidFill>
            <a:srgbClr val="F04618"/>
          </a:solidFill>
        </p:grpSpPr>
        <p:sp>
          <p:nvSpPr>
            <p:cNvPr id="4" name="path">
              <a:extLst>
                <a:ext uri="{FF2B5EF4-FFF2-40B4-BE49-F238E27FC236}">
                  <a16:creationId xmlns:a16="http://schemas.microsoft.com/office/drawing/2014/main" id="{85E7CC99-FDBD-7B72-F0FC-22E63DE6766A}"/>
                </a:ext>
              </a:extLst>
            </p:cNvPr>
            <p:cNvSpPr/>
            <p:nvPr/>
          </p:nvSpPr>
          <p:spPr>
            <a:xfrm>
              <a:off x="745154" y="-15998"/>
              <a:ext cx="2649041" cy="2279943"/>
            </a:xfrm>
            <a:custGeom>
              <a:avLst/>
              <a:gdLst/>
              <a:ahLst/>
              <a:cxnLst/>
              <a:rect l="0" t="0" r="0" b="0"/>
              <a:pathLst>
                <a:path w="6828" h="2265">
                  <a:moveTo>
                    <a:pt x="3414" y="608"/>
                  </a:moveTo>
                  <a:lnTo>
                    <a:pt x="4590" y="0"/>
                  </a:lnTo>
                  <a:lnTo>
                    <a:pt x="4474" y="558"/>
                  </a:lnTo>
                  <a:lnTo>
                    <a:pt x="5810" y="467"/>
                  </a:lnTo>
                  <a:lnTo>
                    <a:pt x="5279" y="767"/>
                  </a:lnTo>
                  <a:lnTo>
                    <a:pt x="6669" y="853"/>
                  </a:lnTo>
                  <a:lnTo>
                    <a:pt x="5565" y="1098"/>
                  </a:lnTo>
                  <a:lnTo>
                    <a:pt x="6828" y="1393"/>
                  </a:lnTo>
                  <a:lnTo>
                    <a:pt x="5322" y="1357"/>
                  </a:lnTo>
                  <a:lnTo>
                    <a:pt x="5735" y="1897"/>
                  </a:lnTo>
                  <a:lnTo>
                    <a:pt x="4431" y="1516"/>
                  </a:lnTo>
                  <a:lnTo>
                    <a:pt x="4187" y="2070"/>
                  </a:lnTo>
                  <a:lnTo>
                    <a:pt x="3329" y="1566"/>
                  </a:lnTo>
                  <a:lnTo>
                    <a:pt x="2682" y="2265"/>
                  </a:lnTo>
                  <a:lnTo>
                    <a:pt x="2438" y="1639"/>
                  </a:lnTo>
                  <a:lnTo>
                    <a:pt x="1505" y="1847"/>
                  </a:lnTo>
                  <a:lnTo>
                    <a:pt x="1791" y="1461"/>
                  </a:lnTo>
                  <a:lnTo>
                    <a:pt x="42" y="1530"/>
                  </a:lnTo>
                  <a:lnTo>
                    <a:pt x="1176" y="1235"/>
                  </a:lnTo>
                  <a:lnTo>
                    <a:pt x="0" y="903"/>
                  </a:lnTo>
                  <a:lnTo>
                    <a:pt x="1462" y="799"/>
                  </a:lnTo>
                  <a:lnTo>
                    <a:pt x="117" y="240"/>
                  </a:lnTo>
                  <a:lnTo>
                    <a:pt x="2311" y="662"/>
                  </a:lnTo>
                  <a:lnTo>
                    <a:pt x="2640" y="240"/>
                  </a:lnTo>
                  <a:lnTo>
                    <a:pt x="3414" y="608"/>
                  </a:lnTo>
                  <a:close/>
                </a:path>
              </a:pathLst>
            </a:custGeom>
            <a:grpFill/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dirty="0"/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31171F8B-1DDC-5AF1-186E-D992938E8DF0}"/>
                </a:ext>
              </a:extLst>
            </p:cNvPr>
            <p:cNvSpPr txBox="1"/>
            <p:nvPr/>
          </p:nvSpPr>
          <p:spPr>
            <a:xfrm>
              <a:off x="1604521" y="666771"/>
              <a:ext cx="1011936" cy="8877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lang="zh-HK" altLang="en-US" sz="2000" b="1" i="0" u="none" strike="noStrike" baseline="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限额</a:t>
              </a:r>
            </a:p>
            <a:p>
              <a:pPr algn="l"/>
              <a:r>
                <a:rPr lang="zh-HK" altLang="en-US" sz="2000" b="1" i="0" u="none" strike="noStrike" baseline="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优惠</a:t>
              </a:r>
              <a:endParaRPr lang="zh-HK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8" name="文字方塊 7">
            <a:extLst>
              <a:ext uri="{FF2B5EF4-FFF2-40B4-BE49-F238E27FC236}">
                <a16:creationId xmlns:a16="http://schemas.microsoft.com/office/drawing/2014/main" id="{8EBA4660-22DB-37CE-7ECF-671DD52535C2}"/>
              </a:ext>
            </a:extLst>
          </p:cNvPr>
          <p:cNvSpPr txBox="1"/>
          <p:nvPr/>
        </p:nvSpPr>
        <p:spPr>
          <a:xfrm>
            <a:off x="2682946" y="1175759"/>
            <a:ext cx="6592494" cy="707886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zh-CN" altLang="en-US" sz="2600" b="1" i="0" u="none" strike="noStrike" baseline="0" dirty="0">
                <a:solidFill>
                  <a:srgbClr val="33B6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预缴</a:t>
            </a:r>
            <a:r>
              <a:rPr lang="en-US" altLang="zh-CN" sz="2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zh-CN" altLang="en-US" sz="2600" b="1" i="0" u="none" strike="noStrike" baseline="0" dirty="0">
                <a:solidFill>
                  <a:srgbClr val="33B68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保费享保证优惠年利率 </a:t>
            </a:r>
            <a:r>
              <a:rPr lang="en-US" altLang="zh-CN" sz="4000" b="1" i="0" u="none" strike="noStrike" baseline="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3.8%</a:t>
            </a:r>
            <a:endParaRPr lang="zh-HK" altLang="en-US" sz="40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1A710C1-C519-A0FC-AC2E-6FB6A747A2F9}"/>
              </a:ext>
            </a:extLst>
          </p:cNvPr>
          <p:cNvSpPr txBox="1"/>
          <p:nvPr/>
        </p:nvSpPr>
        <p:spPr>
          <a:xfrm>
            <a:off x="1054778" y="2092238"/>
            <a:ext cx="87449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年缴保费美元</a:t>
            </a:r>
            <a:r>
              <a:rPr lang="en-US" altLang="zh-CN" sz="2000" b="1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XXX </a:t>
            </a:r>
            <a:r>
              <a:rPr lang="zh-TW" altLang="en-US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CN" altLang="en-US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投保</a:t>
            </a:r>
            <a:r>
              <a:rPr lang="zh-TW" altLang="en-US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时缴付首年保费及</a:t>
            </a:r>
            <a:r>
              <a:rPr lang="en-US" altLang="zh-TW" sz="2000" b="1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年预缴保费</a:t>
            </a:r>
            <a:r>
              <a:rPr lang="zh-TW" altLang="en-US" sz="2000" b="1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CN" altLang="en-US" sz="2000" b="1" i="0" u="none" strike="noStrike" baseline="0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即享利息回赠：</a:t>
            </a:r>
            <a:endParaRPr lang="zh-HK" altLang="en-US" sz="2000" b="1" dirty="0">
              <a:solidFill>
                <a:srgbClr val="F0461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F66F70F2-7628-9F45-3E9F-2F31A1BA6D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838" b="89744" l="10000" r="93913">
                        <a14:foregroundMark x1="42609" y1="6838" x2="42609" y2="6838"/>
                        <a14:foregroundMark x1="69565" y1="14957" x2="69565" y2="14957"/>
                        <a14:foregroundMark x1="63913" y1="86752" x2="63913" y2="86752"/>
                        <a14:foregroundMark x1="78261" y1="79487" x2="78261" y2="79487"/>
                        <a14:foregroundMark x1="87826" y1="65385" x2="87826" y2="65385"/>
                        <a14:foregroundMark x1="93913" y1="24786" x2="93913" y2="24786"/>
                        <a14:foregroundMark x1="23478" y1="29915" x2="23478" y2="29915"/>
                        <a14:foregroundMark x1="30000" y1="23077" x2="30000" y2="23077"/>
                        <a14:foregroundMark x1="36522" y1="17949" x2="36522" y2="17949"/>
                        <a14:foregroundMark x1="18261" y1="40598" x2="18261" y2="40598"/>
                        <a14:foregroundMark x1="14783" y1="47436" x2="14783" y2="47436"/>
                        <a14:foregroundMark x1="16087" y1="58120" x2="16087" y2="58120"/>
                        <a14:foregroundMark x1="19130" y1="64530" x2="19130" y2="64530"/>
                        <a14:foregroundMark x1="20435" y1="70085" x2="20435" y2="70085"/>
                        <a14:foregroundMark x1="23478" y1="76496" x2="23478" y2="76496"/>
                        <a14:foregroundMark x1="29565" y1="79060" x2="29565" y2="79060"/>
                        <a14:foregroundMark x1="33913" y1="82906" x2="33913" y2="82906"/>
                        <a14:foregroundMark x1="41304" y1="85470" x2="41304" y2="85470"/>
                        <a14:foregroundMark x1="49565" y1="86752" x2="49565" y2="86752"/>
                        <a14:foregroundMark x1="56957" y1="87179" x2="56957" y2="87179"/>
                        <a14:foregroundMark x1="83043" y1="72650" x2="83043" y2="72650"/>
                        <a14:foregroundMark x1="74348" y1="21795" x2="74348" y2="21795"/>
                        <a14:foregroundMark x1="54783" y1="10256" x2="54783" y2="10256"/>
                        <a14:foregroundMark x1="61304" y1="16667" x2="61304" y2="16667"/>
                        <a14:foregroundMark x1="87391" y1="39316" x2="87391" y2="39316"/>
                        <a14:foregroundMark x1="92174" y1="46154" x2="92174" y2="46154"/>
                        <a14:foregroundMark x1="89565" y1="56838" x2="88261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660" y="5000293"/>
            <a:ext cx="932707" cy="94892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A9FC58A-E54D-4B7F-FFEB-3FEECB0D2E2E}"/>
              </a:ext>
            </a:extLst>
          </p:cNvPr>
          <p:cNvSpPr txBox="1"/>
          <p:nvPr/>
        </p:nvSpPr>
        <p:spPr>
          <a:xfrm>
            <a:off x="2295618" y="251589"/>
            <a:ext cx="626324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5500" b="1" dirty="0">
                <a:solidFill>
                  <a:srgbClr val="F0461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环宇盈活储蓄计划</a:t>
            </a:r>
            <a:endParaRPr lang="zh-HK" altLang="en-US" sz="5500" b="1" dirty="0">
              <a:solidFill>
                <a:srgbClr val="F0461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8038C84-9859-E6B8-96D5-9AD7BA6BFF68}"/>
              </a:ext>
            </a:extLst>
          </p:cNvPr>
          <p:cNvSpPr txBox="1"/>
          <p:nvPr/>
        </p:nvSpPr>
        <p:spPr>
          <a:xfrm>
            <a:off x="-74405" y="6517217"/>
            <a:ext cx="66246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以上数据只供参考，详情请参阅计划书</a:t>
            </a:r>
            <a:br>
              <a:rPr lang="en-US" altLang="zh-CN" sz="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推广期由 </a:t>
            </a:r>
            <a:r>
              <a:rPr lang="en-US" altLang="zh-TW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日至 </a:t>
            </a:r>
            <a:r>
              <a:rPr lang="en-US" altLang="zh-TW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2026</a:t>
            </a:r>
            <a:r>
              <a:rPr lang="zh-TW" altLang="en-US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</a:t>
            </a:r>
            <a:r>
              <a:rPr lang="en-US" altLang="zh-TW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  <a:r>
              <a:rPr lang="en-US" altLang="zh-TW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31</a:t>
            </a:r>
            <a:r>
              <a:rPr lang="zh-TW" altLang="en-US" sz="800" i="1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日</a:t>
            </a:r>
            <a:r>
              <a:rPr lang="zh-TW" altLang="en-US" sz="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，优惠名额有限及先到先得，额满即止。</a:t>
            </a:r>
            <a:endParaRPr lang="zh-HK" altLang="en-US" sz="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2907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535F2-AE96-7B4E-1CA6-ED1500D5F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backg">
            <a:extLst>
              <a:ext uri="{FF2B5EF4-FFF2-40B4-BE49-F238E27FC236}">
                <a16:creationId xmlns:a16="http://schemas.microsoft.com/office/drawing/2014/main" id="{A85CC9BA-457E-420E-FBE8-E69287FF5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79" t="8045" r="19992" b="22749"/>
          <a:stretch>
            <a:fillRect/>
          </a:stretch>
        </p:blipFill>
        <p:spPr>
          <a:xfrm>
            <a:off x="-3598" y="-6985"/>
            <a:ext cx="12178665" cy="6864985"/>
          </a:xfrm>
          <a:prstGeom prst="rect">
            <a:avLst/>
          </a:prstGeom>
        </p:spPr>
      </p:pic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39ECAF45-6DE2-5B92-4739-CE71E5D5F01E}"/>
              </a:ext>
            </a:extLst>
          </p:cNvPr>
          <p:cNvSpPr/>
          <p:nvPr/>
        </p:nvSpPr>
        <p:spPr>
          <a:xfrm>
            <a:off x="9660269" y="4559198"/>
            <a:ext cx="2160000" cy="1620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合共</a:t>
            </a:r>
            <a:br>
              <a:rPr lang="en-US" altLang="zh-TW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美元</a:t>
            </a:r>
            <a:br>
              <a:rPr lang="en-US" altLang="zh-TW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</a:t>
            </a:r>
            <a:r>
              <a:rPr lang="zh-TW" altLang="en-US" sz="1800" b="1" kern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CN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)</a:t>
            </a:r>
          </a:p>
        </p:txBody>
      </p:sp>
      <p:sp>
        <p:nvSpPr>
          <p:cNvPr id="6" name="圓角化對角線角落矩形 6">
            <a:extLst>
              <a:ext uri="{FF2B5EF4-FFF2-40B4-BE49-F238E27FC236}">
                <a16:creationId xmlns:a16="http://schemas.microsoft.com/office/drawing/2014/main" id="{6E46CDCA-C1B0-A6F8-201C-EF06AFB71C32}"/>
              </a:ext>
            </a:extLst>
          </p:cNvPr>
          <p:cNvSpPr/>
          <p:nvPr/>
        </p:nvSpPr>
        <p:spPr>
          <a:xfrm>
            <a:off x="436246" y="441960"/>
            <a:ext cx="2044488" cy="222250"/>
          </a:xfrm>
          <a:prstGeom prst="round2DiagRect">
            <a:avLst/>
          </a:prstGeom>
          <a:solidFill>
            <a:srgbClr val="C00000">
              <a:alpha val="2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392" tIns="45696" rIns="91392" bIns="45696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charset="-122"/>
            </a:endParaRPr>
          </a:p>
        </p:txBody>
      </p:sp>
      <p:sp>
        <p:nvSpPr>
          <p:cNvPr id="7" name="矩形 21">
            <a:extLst>
              <a:ext uri="{FF2B5EF4-FFF2-40B4-BE49-F238E27FC236}">
                <a16:creationId xmlns:a16="http://schemas.microsoft.com/office/drawing/2014/main" id="{D5EF038C-74CE-110C-EDED-0B4D47045B3C}"/>
              </a:ext>
            </a:extLst>
          </p:cNvPr>
          <p:cNvSpPr/>
          <p:nvPr/>
        </p:nvSpPr>
        <p:spPr bwMode="auto">
          <a:xfrm>
            <a:off x="369318" y="300219"/>
            <a:ext cx="66390" cy="375488"/>
          </a:xfrm>
          <a:prstGeom prst="rect">
            <a:avLst/>
          </a:prstGeom>
          <a:gradFill>
            <a:gsLst>
              <a:gs pos="0">
                <a:srgbClr val="FE1E1E"/>
              </a:gs>
              <a:gs pos="48000">
                <a:srgbClr val="ED0101"/>
              </a:gs>
              <a:gs pos="100000">
                <a:srgbClr val="E10101"/>
              </a:gs>
            </a:gsLst>
            <a:lin ang="5400000" scaled="1"/>
          </a:gra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392" tIns="45696" rIns="91392" bIns="45696" numCol="1" spcCol="0" rtlCol="0" fromWordArt="0" anchor="t" anchorCtr="0" forceAA="0" compatLnSpc="1">
            <a:noAutofit/>
          </a:bodyPr>
          <a:lstStyle/>
          <a:p>
            <a:pPr algn="ctr"/>
            <a:endParaRPr lang="zh-CN" altLang="en-US" sz="2000">
              <a:solidFill>
                <a:schemeClr val="accent2"/>
              </a:solidFill>
              <a:latin typeface="SJzhuokai" panose="00000500000000000000" charset="-122"/>
              <a:ea typeface="SJzhuokai" panose="00000500000000000000" charset="-122"/>
              <a:cs typeface="+mn-ea"/>
              <a:sym typeface="Microsoft YaHei Light" panose="020B0502040204020203" pitchFamily="34" charset="-122"/>
            </a:endParaRPr>
          </a:p>
        </p:txBody>
      </p:sp>
      <p:sp>
        <p:nvSpPr>
          <p:cNvPr id="8" name="文本框 20">
            <a:extLst>
              <a:ext uri="{FF2B5EF4-FFF2-40B4-BE49-F238E27FC236}">
                <a16:creationId xmlns:a16="http://schemas.microsoft.com/office/drawing/2014/main" id="{7BE3393E-90F0-AA94-2F04-FDD007BAB3E3}"/>
              </a:ext>
            </a:extLst>
          </p:cNvPr>
          <p:cNvSpPr txBox="1"/>
          <p:nvPr/>
        </p:nvSpPr>
        <p:spPr>
          <a:xfrm>
            <a:off x="435708" y="213255"/>
            <a:ext cx="2133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b="1">
                <a:latin typeface="+mj-ea"/>
                <a:ea typeface="+mj-ea"/>
              </a:defRPr>
            </a:lvl1pPr>
          </a:lstStyle>
          <a:p>
            <a:pPr algn="l"/>
            <a:endParaRPr lang="zh-CN" altLang="en-US" b="0" dirty="0">
              <a:latin typeface="標楷體" panose="03000509000000000000" pitchFamily="65" charset="-120"/>
              <a:ea typeface="標楷體" panose="03000509000000000000" pitchFamily="65" charset="-120"/>
              <a:cs typeface="標楷體" panose="03000509000000000000" pitchFamily="65" charset="-120"/>
              <a:sym typeface="Microsoft YaHei Light" panose="020B0502040204020203" pitchFamily="34" charset="-122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1C22BDE8-2ED6-F534-4DE6-6574AEB51E27}"/>
              </a:ext>
            </a:extLst>
          </p:cNvPr>
          <p:cNvSpPr/>
          <p:nvPr/>
        </p:nvSpPr>
        <p:spPr>
          <a:xfrm>
            <a:off x="2740986" y="4563864"/>
            <a:ext cx="1620000" cy="1620000"/>
          </a:xfrm>
          <a:prstGeom prst="ellipse">
            <a:avLst/>
          </a:prstGeom>
          <a:solidFill>
            <a:srgbClr val="F47A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DD43BD7-CDDD-6CB7-3141-92EB43A4ECC8}"/>
              </a:ext>
            </a:extLst>
          </p:cNvPr>
          <p:cNvSpPr txBox="1"/>
          <p:nvPr/>
        </p:nvSpPr>
        <p:spPr>
          <a:xfrm>
            <a:off x="2740986" y="4927588"/>
            <a:ext cx="162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保费回赠</a:t>
            </a:r>
            <a:b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zh-HK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美元</a:t>
            </a:r>
            <a:br>
              <a:rPr lang="en-US" altLang="zh-HK" sz="1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en-US" altLang="zh-HK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</a:t>
            </a:r>
            <a:r>
              <a:rPr lang="zh-TW" altLang="en-US" sz="14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)</a:t>
            </a:r>
            <a:endParaRPr lang="zh-HK" altLang="en-US" sz="1400" dirty="0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5C9E3D7C-1DD9-3C51-56E8-5E842A350925}"/>
              </a:ext>
            </a:extLst>
          </p:cNvPr>
          <p:cNvSpPr/>
          <p:nvPr/>
        </p:nvSpPr>
        <p:spPr>
          <a:xfrm>
            <a:off x="4964654" y="4559198"/>
            <a:ext cx="1620000" cy="1620000"/>
          </a:xfrm>
          <a:prstGeom prst="ellipse">
            <a:avLst/>
          </a:prstGeom>
          <a:solidFill>
            <a:srgbClr val="F47A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21ECF1F-F66C-A672-0C5D-276F02823A81}"/>
              </a:ext>
            </a:extLst>
          </p:cNvPr>
          <p:cNvSpPr txBox="1"/>
          <p:nvPr/>
        </p:nvSpPr>
        <p:spPr>
          <a:xfrm>
            <a:off x="4964654" y="4818941"/>
            <a:ext cx="162000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电子保费</a:t>
            </a:r>
            <a:b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优惠劵</a:t>
            </a:r>
            <a:b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美元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2,815</a:t>
            </a:r>
            <a:b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</a:t>
            </a:r>
            <a:r>
              <a:rPr lang="zh-TW" altLang="en-US" sz="12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CN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20,408)</a:t>
            </a:r>
            <a:endParaRPr lang="zh-HK" altLang="en-US" sz="1200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C0C1ACF6-2455-FCCF-D006-F880F2505B22}"/>
              </a:ext>
            </a:extLst>
          </p:cNvPr>
          <p:cNvSpPr/>
          <p:nvPr/>
        </p:nvSpPr>
        <p:spPr>
          <a:xfrm>
            <a:off x="7279584" y="4559198"/>
            <a:ext cx="1620000" cy="1620000"/>
          </a:xfrm>
          <a:prstGeom prst="ellipse">
            <a:avLst/>
          </a:prstGeom>
          <a:solidFill>
            <a:srgbClr val="F47A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5F15D4C-CFAE-58CA-8993-054257580C42}"/>
              </a:ext>
            </a:extLst>
          </p:cNvPr>
          <p:cNvSpPr txBox="1"/>
          <p:nvPr/>
        </p:nvSpPr>
        <p:spPr>
          <a:xfrm>
            <a:off x="7279583" y="4777441"/>
            <a:ext cx="162000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2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预缴</a:t>
            </a:r>
            <a:r>
              <a:rPr lang="zh-HK" altLang="en-US" sz="22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优惠</a:t>
            </a:r>
            <a:br>
              <a:rPr lang="en-US" altLang="zh-HK" sz="22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22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利息</a:t>
            </a:r>
            <a:br>
              <a:rPr lang="en-US" altLang="zh-HK" sz="24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16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美元</a:t>
            </a:r>
            <a:r>
              <a:rPr lang="en-US" altLang="zh-HK" sz="16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13,416</a:t>
            </a:r>
            <a:b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HK" sz="12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TW" sz="12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97,268</a:t>
            </a:r>
            <a:r>
              <a:rPr lang="en-US" altLang="zh-HK" sz="12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HK" altLang="en-US" sz="1200" dirty="0"/>
          </a:p>
        </p:txBody>
      </p:sp>
      <p:sp>
        <p:nvSpPr>
          <p:cNvPr id="24" name="十字形 23">
            <a:extLst>
              <a:ext uri="{FF2B5EF4-FFF2-40B4-BE49-F238E27FC236}">
                <a16:creationId xmlns:a16="http://schemas.microsoft.com/office/drawing/2014/main" id="{695A3BA7-3D92-24F4-0529-A00FA5F0A256}"/>
              </a:ext>
            </a:extLst>
          </p:cNvPr>
          <p:cNvSpPr/>
          <p:nvPr/>
        </p:nvSpPr>
        <p:spPr>
          <a:xfrm>
            <a:off x="4474894" y="5189198"/>
            <a:ext cx="360000" cy="360000"/>
          </a:xfrm>
          <a:prstGeom prst="plus">
            <a:avLst>
              <a:gd name="adj" fmla="val 35870"/>
            </a:avLst>
          </a:prstGeom>
          <a:solidFill>
            <a:srgbClr val="F04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25" name="十字形 24">
            <a:extLst>
              <a:ext uri="{FF2B5EF4-FFF2-40B4-BE49-F238E27FC236}">
                <a16:creationId xmlns:a16="http://schemas.microsoft.com/office/drawing/2014/main" id="{09B77DE0-BF0F-86A5-F723-0EB4EFDB8BCE}"/>
              </a:ext>
            </a:extLst>
          </p:cNvPr>
          <p:cNvSpPr/>
          <p:nvPr/>
        </p:nvSpPr>
        <p:spPr>
          <a:xfrm>
            <a:off x="6714414" y="5212994"/>
            <a:ext cx="360000" cy="360000"/>
          </a:xfrm>
          <a:prstGeom prst="plus">
            <a:avLst>
              <a:gd name="adj" fmla="val 35870"/>
            </a:avLst>
          </a:prstGeom>
          <a:solidFill>
            <a:srgbClr val="F04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B5AEB00-712E-C81B-8CDC-E20107E3C235}"/>
              </a:ext>
            </a:extLst>
          </p:cNvPr>
          <p:cNvSpPr txBox="1"/>
          <p:nvPr/>
        </p:nvSpPr>
        <p:spPr>
          <a:xfrm>
            <a:off x="8478982" y="6560237"/>
            <a:ext cx="3696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HK" altLang="en-US" sz="1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*以美元兑</a:t>
            </a:r>
            <a:r>
              <a:rPr lang="zh-TW" altLang="en-US" sz="14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zh-HK" altLang="en-US" sz="1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汇率</a:t>
            </a:r>
            <a:r>
              <a:rPr lang="en-US" altLang="zh-HK" sz="1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6.8</a:t>
            </a:r>
            <a:r>
              <a:rPr lang="zh-HK" altLang="en-US" sz="13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计算*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EA89B9-F9D2-F779-255F-7101AE1AAF94}"/>
              </a:ext>
            </a:extLst>
          </p:cNvPr>
          <p:cNvSpPr txBox="1"/>
          <p:nvPr/>
        </p:nvSpPr>
        <p:spPr>
          <a:xfrm>
            <a:off x="369318" y="5249062"/>
            <a:ext cx="1953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iii) </a:t>
            </a:r>
            <a:r>
              <a:rPr lang="zh-CN" altLang="en-US" sz="18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预缴</a:t>
            </a:r>
            <a:r>
              <a:rPr lang="en-US" altLang="zh-CN" sz="18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18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年保费</a:t>
            </a:r>
            <a:endParaRPr lang="zh-HK" altLang="en-US" dirty="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EAE38CA-620F-9FE6-D2C6-49E969ADA293}"/>
              </a:ext>
            </a:extLst>
          </p:cNvPr>
          <p:cNvSpPr/>
          <p:nvPr/>
        </p:nvSpPr>
        <p:spPr>
          <a:xfrm>
            <a:off x="9660269" y="2734320"/>
            <a:ext cx="2160000" cy="1620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合共</a:t>
            </a:r>
            <a:br>
              <a:rPr lang="en-US" altLang="zh-TW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美元</a:t>
            </a:r>
            <a:br>
              <a:rPr lang="en-US" altLang="zh-TW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</a:t>
            </a:r>
            <a:r>
              <a:rPr lang="zh-TW" altLang="en-US" sz="1800" b="1" kern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CN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)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BD1B4F7C-DBA5-4D2F-B177-8A9F812D40A9}"/>
              </a:ext>
            </a:extLst>
          </p:cNvPr>
          <p:cNvSpPr/>
          <p:nvPr/>
        </p:nvSpPr>
        <p:spPr>
          <a:xfrm>
            <a:off x="2740986" y="2738986"/>
            <a:ext cx="1620000" cy="1620000"/>
          </a:xfrm>
          <a:prstGeom prst="ellipse">
            <a:avLst/>
          </a:prstGeom>
          <a:solidFill>
            <a:srgbClr val="F47A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4E87F00-A561-326E-8EA7-16E13C2770EA}"/>
              </a:ext>
            </a:extLst>
          </p:cNvPr>
          <p:cNvSpPr txBox="1"/>
          <p:nvPr/>
        </p:nvSpPr>
        <p:spPr>
          <a:xfrm>
            <a:off x="2740986" y="3102710"/>
            <a:ext cx="162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保费回赠</a:t>
            </a:r>
            <a:b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zh-HK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美元</a:t>
            </a:r>
            <a:br>
              <a:rPr lang="en-US" altLang="zh-HK" sz="1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en-US" altLang="zh-HK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</a:t>
            </a:r>
            <a:r>
              <a:rPr lang="zh-TW" altLang="en-US" sz="14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)</a:t>
            </a:r>
            <a:endParaRPr lang="zh-HK" altLang="en-US" sz="1400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F466EA17-8B78-B2D8-5441-D4D39BC36C9C}"/>
              </a:ext>
            </a:extLst>
          </p:cNvPr>
          <p:cNvSpPr/>
          <p:nvPr/>
        </p:nvSpPr>
        <p:spPr>
          <a:xfrm>
            <a:off x="4964654" y="2734320"/>
            <a:ext cx="1620000" cy="1620000"/>
          </a:xfrm>
          <a:prstGeom prst="ellipse">
            <a:avLst/>
          </a:prstGeom>
          <a:solidFill>
            <a:srgbClr val="F47A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FB59670-5ABF-EE11-152E-D8DDF5763976}"/>
              </a:ext>
            </a:extLst>
          </p:cNvPr>
          <p:cNvSpPr txBox="1"/>
          <p:nvPr/>
        </p:nvSpPr>
        <p:spPr>
          <a:xfrm>
            <a:off x="4964654" y="2994063"/>
            <a:ext cx="162000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电子保费</a:t>
            </a:r>
            <a:b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优惠劵</a:t>
            </a:r>
            <a:b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美元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2,815</a:t>
            </a:r>
            <a:b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</a:t>
            </a:r>
            <a:r>
              <a:rPr lang="zh-TW" altLang="en-US" sz="12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CN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20,408)</a:t>
            </a:r>
            <a:endParaRPr lang="zh-HK" altLang="en-US" sz="1200" dirty="0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BC36616C-8ACB-5225-FAD5-2A0027CE1849}"/>
              </a:ext>
            </a:extLst>
          </p:cNvPr>
          <p:cNvSpPr/>
          <p:nvPr/>
        </p:nvSpPr>
        <p:spPr>
          <a:xfrm>
            <a:off x="7279584" y="2734320"/>
            <a:ext cx="1620000" cy="1620000"/>
          </a:xfrm>
          <a:prstGeom prst="ellipse">
            <a:avLst/>
          </a:prstGeom>
          <a:solidFill>
            <a:srgbClr val="F47A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7C1C670-F9DC-BF48-60C7-2455CEF7D35B}"/>
              </a:ext>
            </a:extLst>
          </p:cNvPr>
          <p:cNvSpPr txBox="1"/>
          <p:nvPr/>
        </p:nvSpPr>
        <p:spPr>
          <a:xfrm>
            <a:off x="7279583" y="2952563"/>
            <a:ext cx="162000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2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预缴</a:t>
            </a:r>
            <a:r>
              <a:rPr lang="zh-HK" altLang="en-US" sz="22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优惠</a:t>
            </a:r>
            <a:br>
              <a:rPr lang="en-US" altLang="zh-HK" sz="22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2200" b="1" i="0" u="none" strike="noStrike" baseline="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利息</a:t>
            </a:r>
            <a:br>
              <a:rPr lang="en-US" altLang="zh-HK" sz="24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HK" altLang="en-US" sz="16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美元</a:t>
            </a:r>
            <a:r>
              <a:rPr lang="en-US" altLang="zh-HK" sz="16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1,500</a:t>
            </a:r>
            <a:b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HK" sz="12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TW" sz="12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10,875</a:t>
            </a:r>
            <a:r>
              <a:rPr lang="en-US" altLang="zh-HK" sz="12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HK" altLang="en-US" sz="1200" dirty="0"/>
          </a:p>
        </p:txBody>
      </p:sp>
      <p:sp>
        <p:nvSpPr>
          <p:cNvPr id="28" name="十字形 27">
            <a:extLst>
              <a:ext uri="{FF2B5EF4-FFF2-40B4-BE49-F238E27FC236}">
                <a16:creationId xmlns:a16="http://schemas.microsoft.com/office/drawing/2014/main" id="{36CAEC3B-0A48-C7F8-2DE4-42B9996F1EBF}"/>
              </a:ext>
            </a:extLst>
          </p:cNvPr>
          <p:cNvSpPr/>
          <p:nvPr/>
        </p:nvSpPr>
        <p:spPr>
          <a:xfrm>
            <a:off x="4474894" y="3364320"/>
            <a:ext cx="360000" cy="360000"/>
          </a:xfrm>
          <a:prstGeom prst="plus">
            <a:avLst>
              <a:gd name="adj" fmla="val 35870"/>
            </a:avLst>
          </a:prstGeom>
          <a:solidFill>
            <a:srgbClr val="F04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29" name="十字形 28">
            <a:extLst>
              <a:ext uri="{FF2B5EF4-FFF2-40B4-BE49-F238E27FC236}">
                <a16:creationId xmlns:a16="http://schemas.microsoft.com/office/drawing/2014/main" id="{0A0DE466-43B1-0ED7-8B0C-0BA2DD38A707}"/>
              </a:ext>
            </a:extLst>
          </p:cNvPr>
          <p:cNvSpPr/>
          <p:nvPr/>
        </p:nvSpPr>
        <p:spPr>
          <a:xfrm>
            <a:off x="6714414" y="3388116"/>
            <a:ext cx="360000" cy="360000"/>
          </a:xfrm>
          <a:prstGeom prst="plus">
            <a:avLst>
              <a:gd name="adj" fmla="val 35870"/>
            </a:avLst>
          </a:prstGeom>
          <a:solidFill>
            <a:srgbClr val="F04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8BB0D369-9193-1892-97F9-AFCABF638398}"/>
              </a:ext>
            </a:extLst>
          </p:cNvPr>
          <p:cNvSpPr txBox="1"/>
          <p:nvPr/>
        </p:nvSpPr>
        <p:spPr>
          <a:xfrm>
            <a:off x="369318" y="3424184"/>
            <a:ext cx="1953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ii) </a:t>
            </a:r>
            <a:r>
              <a:rPr lang="zh-CN" altLang="en-US" sz="18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预缴</a:t>
            </a:r>
            <a:r>
              <a:rPr lang="en-US" altLang="zh-CN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8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年保费</a:t>
            </a:r>
            <a:endParaRPr lang="zh-HK" altLang="en-US" dirty="0"/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B19C935-360C-3155-023F-6E0A796288EF}"/>
              </a:ext>
            </a:extLst>
          </p:cNvPr>
          <p:cNvSpPr/>
          <p:nvPr/>
        </p:nvSpPr>
        <p:spPr>
          <a:xfrm>
            <a:off x="9660269" y="944422"/>
            <a:ext cx="2160000" cy="1620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合共</a:t>
            </a:r>
            <a:br>
              <a:rPr lang="en-US" altLang="zh-TW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美元</a:t>
            </a:r>
            <a:br>
              <a:rPr lang="en-US" altLang="zh-TW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</a:t>
            </a:r>
            <a:r>
              <a:rPr lang="zh-TW" altLang="en-US" sz="1800" b="1" kern="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CN" sz="1800" b="1" dirty="0">
                <a:solidFill>
                  <a:schemeClr val="tx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)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1ABC74B6-3730-D7CA-05D1-65D907E96E8E}"/>
              </a:ext>
            </a:extLst>
          </p:cNvPr>
          <p:cNvSpPr/>
          <p:nvPr/>
        </p:nvSpPr>
        <p:spPr>
          <a:xfrm>
            <a:off x="2740986" y="949088"/>
            <a:ext cx="1620000" cy="1620000"/>
          </a:xfrm>
          <a:prstGeom prst="ellipse">
            <a:avLst/>
          </a:prstGeom>
          <a:solidFill>
            <a:srgbClr val="F47A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75F726C-5CBE-A427-9A08-A4FF5327CB31}"/>
              </a:ext>
            </a:extLst>
          </p:cNvPr>
          <p:cNvSpPr txBox="1"/>
          <p:nvPr/>
        </p:nvSpPr>
        <p:spPr>
          <a:xfrm>
            <a:off x="2740986" y="1312812"/>
            <a:ext cx="1620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保费回赠</a:t>
            </a:r>
            <a:b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zh-HK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美元</a:t>
            </a:r>
            <a:br>
              <a:rPr lang="en-US" altLang="zh-HK" sz="1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en-US" altLang="zh-HK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</a:t>
            </a:r>
            <a:r>
              <a:rPr lang="zh-TW" altLang="en-US" sz="14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HK" sz="1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)</a:t>
            </a:r>
            <a:endParaRPr lang="zh-HK" altLang="en-US" sz="1400" dirty="0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3B8AC580-A6A4-7F77-DA2E-1C97EA1CEDE8}"/>
              </a:ext>
            </a:extLst>
          </p:cNvPr>
          <p:cNvSpPr/>
          <p:nvPr/>
        </p:nvSpPr>
        <p:spPr>
          <a:xfrm>
            <a:off x="4964654" y="944422"/>
            <a:ext cx="1620000" cy="1620000"/>
          </a:xfrm>
          <a:prstGeom prst="ellipse">
            <a:avLst/>
          </a:prstGeom>
          <a:solidFill>
            <a:srgbClr val="F47A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4D46B60-D744-1F5B-9B51-122A8CE44BE2}"/>
              </a:ext>
            </a:extLst>
          </p:cNvPr>
          <p:cNvSpPr txBox="1"/>
          <p:nvPr/>
        </p:nvSpPr>
        <p:spPr>
          <a:xfrm>
            <a:off x="4964654" y="1204165"/>
            <a:ext cx="162000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电子保费</a:t>
            </a:r>
            <a:b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优惠劵</a:t>
            </a:r>
            <a:br>
              <a:rPr lang="en-US" altLang="zh-TW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zh-TW" altLang="en-US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美元</a:t>
            </a:r>
            <a: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2,815</a:t>
            </a:r>
            <a:br>
              <a:rPr lang="en-US" altLang="zh-TW" sz="16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</a:br>
            <a:r>
              <a:rPr lang="en-US" altLang="zh-TW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(</a:t>
            </a:r>
            <a:r>
              <a:rPr lang="zh-TW" altLang="en-US" sz="1200" b="1" kern="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人民币</a:t>
            </a:r>
            <a:r>
              <a:rPr lang="en-US" altLang="zh-CN" sz="12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20,408)</a:t>
            </a:r>
            <a:endParaRPr lang="zh-HK" altLang="en-US" sz="1200" dirty="0"/>
          </a:p>
        </p:txBody>
      </p:sp>
      <p:sp>
        <p:nvSpPr>
          <p:cNvPr id="38" name="十字形 37">
            <a:extLst>
              <a:ext uri="{FF2B5EF4-FFF2-40B4-BE49-F238E27FC236}">
                <a16:creationId xmlns:a16="http://schemas.microsoft.com/office/drawing/2014/main" id="{563C29FB-FC1A-298E-5D87-2C982E5296BA}"/>
              </a:ext>
            </a:extLst>
          </p:cNvPr>
          <p:cNvSpPr/>
          <p:nvPr/>
        </p:nvSpPr>
        <p:spPr>
          <a:xfrm>
            <a:off x="4474894" y="1574422"/>
            <a:ext cx="360000" cy="360000"/>
          </a:xfrm>
          <a:prstGeom prst="plus">
            <a:avLst>
              <a:gd name="adj" fmla="val 35870"/>
            </a:avLst>
          </a:prstGeom>
          <a:solidFill>
            <a:srgbClr val="F046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E4A4E60-E02C-FAE4-AD62-4D6EBF2AB082}"/>
              </a:ext>
            </a:extLst>
          </p:cNvPr>
          <p:cNvSpPr txBox="1"/>
          <p:nvPr/>
        </p:nvSpPr>
        <p:spPr>
          <a:xfrm>
            <a:off x="369318" y="1634286"/>
            <a:ext cx="1953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i="0" u="none" strike="noStrike" baseline="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CN" sz="18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 </a:t>
            </a:r>
            <a:r>
              <a:rPr lang="zh-TW" altLang="en-US" sz="18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不选择</a:t>
            </a:r>
            <a:r>
              <a:rPr lang="zh-CN" altLang="en-US" sz="1800" b="1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预缴</a:t>
            </a:r>
            <a:endParaRPr lang="zh-HK" altLang="en-US" dirty="0"/>
          </a:p>
        </p:txBody>
      </p:sp>
      <p:sp>
        <p:nvSpPr>
          <p:cNvPr id="9" name="文本框 20">
            <a:extLst>
              <a:ext uri="{FF2B5EF4-FFF2-40B4-BE49-F238E27FC236}">
                <a16:creationId xmlns:a16="http://schemas.microsoft.com/office/drawing/2014/main" id="{F06CD1FA-5AC3-4E73-B439-D671339EF56B}"/>
              </a:ext>
            </a:extLst>
          </p:cNvPr>
          <p:cNvSpPr txBox="1"/>
          <p:nvPr/>
        </p:nvSpPr>
        <p:spPr>
          <a:xfrm>
            <a:off x="502098" y="204980"/>
            <a:ext cx="2133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b="1">
                <a:latin typeface="+mj-ea"/>
                <a:ea typeface="+mj-ea"/>
              </a:defRPr>
            </a:lvl1pPr>
          </a:lstStyle>
          <a:p>
            <a:pPr algn="l"/>
            <a:r>
              <a:rPr lang="zh-TW" altLang="en-US" sz="28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优惠的金额</a:t>
            </a:r>
            <a:endParaRPr lang="zh-CN" altLang="en-US" b="0" dirty="0">
              <a:latin typeface="標楷體" panose="03000509000000000000" pitchFamily="65" charset="-120"/>
              <a:ea typeface="標楷體" panose="03000509000000000000" pitchFamily="65" charset="-120"/>
              <a:cs typeface="標楷體" panose="03000509000000000000" pitchFamily="65" charset="-120"/>
              <a:sym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8888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97DF761-A6FF-56A9-E451-F439019F1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421518"/>
              </p:ext>
            </p:extLst>
          </p:nvPr>
        </p:nvGraphicFramePr>
        <p:xfrm>
          <a:off x="650606" y="219840"/>
          <a:ext cx="10714518" cy="62879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145929">
                  <a:extLst>
                    <a:ext uri="{9D8B030D-6E8A-4147-A177-3AD203B41FA5}">
                      <a16:colId xmlns:a16="http://schemas.microsoft.com/office/drawing/2014/main" val="767564642"/>
                    </a:ext>
                  </a:extLst>
                </a:gridCol>
                <a:gridCol w="7568589">
                  <a:extLst>
                    <a:ext uri="{9D8B030D-6E8A-4147-A177-3AD203B41FA5}">
                      <a16:colId xmlns:a16="http://schemas.microsoft.com/office/drawing/2014/main" val="590204834"/>
                    </a:ext>
                  </a:extLst>
                </a:gridCol>
              </a:tblGrid>
              <a:tr h="661550"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缴费方式</a:t>
                      </a:r>
                      <a:endParaRPr lang="zh-HK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注意事项</a:t>
                      </a:r>
                      <a:endParaRPr lang="zh-HK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735483"/>
                  </a:ext>
                </a:extLst>
              </a:tr>
              <a:tr h="661550"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sv-SE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海外信用卡 </a:t>
                      </a:r>
                      <a:br>
                        <a:rPr lang="en-US" altLang="zh-HK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sv-SE" altLang="zh-HK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(Visa/ Master/ JCB/ AE) </a:t>
                      </a:r>
                      <a:endParaRPr lang="zh-HK" alt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50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客户亲临缴费处缴费，</a:t>
                      </a:r>
                      <a:r>
                        <a:rPr lang="zh-HK" altLang="en-US" sz="15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须缴付境外保费付款行政费</a:t>
                      </a:r>
                      <a:r>
                        <a:rPr lang="en-US" altLang="zh-HK" sz="1500" b="0" i="0" u="none" strike="noStrike" kern="1200" baseline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1.5%</a:t>
                      </a:r>
                      <a:endParaRPr lang="zh-HK" alt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023435"/>
                  </a:ext>
                </a:extLst>
              </a:tr>
              <a:tr h="661550"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现金付款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500" spc="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必须由客户于缴费处缴交</a:t>
                      </a:r>
                      <a:br>
                        <a:rPr lang="en-US" altLang="zh-CN" sz="1500" spc="5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</a:b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每位保单持有人</a:t>
                      </a: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包括其持有之所有保单</a:t>
                      </a: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每年可缴现金上限为 </a:t>
                      </a: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60,000 </a:t>
                      </a: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美元或等值港元</a:t>
                      </a:r>
                      <a:endParaRPr lang="zh-HK" alt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703645"/>
                  </a:ext>
                </a:extLst>
              </a:tr>
              <a:tr h="3116807"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银行电汇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电汇款项至以下指定户口</a:t>
                      </a:r>
                      <a:r>
                        <a:rPr lang="en-US" altLang="zh-CN" sz="15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(</a:t>
                      </a:r>
                      <a:r>
                        <a:rPr lang="zh-CN" altLang="en-US" sz="15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将</a:t>
                      </a:r>
                      <a:r>
                        <a:rPr lang="zh-CN" altLang="en-US" sz="15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新細明體" panose="02020500000000000000" charset="-120"/>
                        </a:rPr>
                        <a:t>获豁免 </a:t>
                      </a:r>
                      <a:r>
                        <a:rPr lang="en-US" altLang="zh-CN" sz="15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/>
                        </a:rPr>
                        <a:t>2.8</a:t>
                      </a:r>
                      <a:r>
                        <a:rPr lang="en-US" altLang="zh-CN"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/>
                        </a:rPr>
                        <a:t>%</a:t>
                      </a:r>
                      <a:r>
                        <a:rPr lang="zh-CN" altLang="en-US"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新細明體" panose="02020500000000000000" charset="-120"/>
                        </a:rPr>
                        <a:t>行政费</a:t>
                      </a:r>
                      <a:r>
                        <a:rPr lang="en-US" altLang="zh-CN"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/>
                        </a:rPr>
                        <a:t>)</a:t>
                      </a:r>
                      <a:endParaRPr lang="zh-CN" alt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收款银行：花旗银行 </a:t>
                      </a:r>
                      <a:b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银行地址：香港中环花园道三号冠君大厦 </a:t>
                      </a:r>
                      <a:b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收款人名字：友邦保险</a:t>
                      </a: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国际</a:t>
                      </a: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有限公司 </a:t>
                      </a:r>
                      <a:b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收款人账号：</a:t>
                      </a:r>
                      <a:b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006-391-17721113 (</a:t>
                      </a: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美元汇款</a:t>
                      </a: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</a:t>
                      </a:r>
                      <a:b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006-391-61581186 (</a:t>
                      </a: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港元汇款</a:t>
                      </a: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</a:t>
                      </a:r>
                      <a:b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代号： </a:t>
                      </a: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CITIHKHX(8</a:t>
                      </a: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位适用</a:t>
                      </a: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</a:t>
                      </a: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或</a:t>
                      </a: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CITIHKHXXXX (11</a:t>
                      </a: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位适用</a:t>
                      </a:r>
                      <a: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br>
                        <a:rPr lang="en-US" altLang="zh-TW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endParaRPr lang="en-US" altLang="zh-TW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＃</a:t>
                      </a:r>
                      <a:r>
                        <a:rPr lang="zh-CN" altLang="en-US" sz="15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请注意：  所有汇款须提供保单号码、保单持有人</a:t>
                      </a:r>
                      <a:r>
                        <a:rPr lang="zh-CN" altLang="en-US"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姓</a:t>
                      </a:r>
                      <a:r>
                        <a:rPr lang="zh-CN" altLang="en-US"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名及保费银码于   </a:t>
                      </a:r>
                      <a:r>
                        <a:rPr lang="zh-CN" altLang="en-US" sz="15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电汇申请表内。汇款人必须是保单持</a:t>
                      </a:r>
                      <a:r>
                        <a:rPr lang="zh-CN" altLang="en-US" sz="15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有人及需缴付银行手续费</a:t>
                      </a:r>
                      <a:endParaRPr lang="en-US" altLang="zh-CN" sz="1500" spc="0" dirty="0">
                        <a:solidFill>
                          <a:srgbClr val="000000">
                            <a:alpha val="100000"/>
                          </a:srgbClr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charset="-120"/>
                      </a:endParaRPr>
                    </a:p>
                    <a:p>
                      <a:r>
                        <a:rPr lang="zh-CN" altLang="en-US" sz="150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*请在缴付保</a:t>
                      </a:r>
                      <a:r>
                        <a:rPr lang="zh-CN" altLang="en-US"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费金额加</a:t>
                      </a:r>
                      <a:r>
                        <a:rPr lang="en-US" altLang="zh-CN"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50</a:t>
                      </a:r>
                      <a:r>
                        <a:rPr lang="zh-CN" altLang="en-US" sz="150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charset="-120"/>
                        </a:rPr>
                        <a:t>美元以缴付银行手续费*</a:t>
                      </a:r>
                      <a:endParaRPr lang="zh-HK" alt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3849751"/>
                  </a:ext>
                </a:extLst>
              </a:tr>
              <a:tr h="661550"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银行转账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款项必须来自保单持有人 </a:t>
                      </a:r>
                      <a:r>
                        <a:rPr lang="en-US" altLang="zh-CN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CN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受保人 </a:t>
                      </a:r>
                      <a:r>
                        <a:rPr lang="en-US" altLang="zh-CN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 </a:t>
                      </a:r>
                      <a:r>
                        <a:rPr lang="zh-CN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受益人或其直系亲属的银行户口</a:t>
                      </a:r>
                      <a:br>
                        <a:rPr lang="zh-CN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CN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网上银行缴费方法于投保后提供</a:t>
                      </a:r>
                      <a:endParaRPr lang="zh-CN" alt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Microsoft JhengHe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925731"/>
                  </a:ext>
                </a:extLst>
              </a:tr>
              <a:tr h="524957"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Microsoft JhengHei"/>
                        </a:rPr>
                        <a:t>银行本票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5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需提供由银行发出并附有购买人姓名之有效收据</a:t>
                      </a:r>
                      <a:endParaRPr lang="zh-HK" altLang="en-US" sz="15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35228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484</TotalTime>
  <Words>2251</Words>
  <Application>Microsoft Office PowerPoint</Application>
  <PresentationFormat>寬螢幕</PresentationFormat>
  <Paragraphs>196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SJzhuokai</vt:lpstr>
      <vt:lpstr>微軟正黑體</vt:lpstr>
      <vt:lpstr>標楷體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laitinyau.arnold@gmail.com</dc:creator>
  <cp:lastModifiedBy>TIN YAU LAI</cp:lastModifiedBy>
  <cp:revision>76</cp:revision>
  <dcterms:created xsi:type="dcterms:W3CDTF">2024-01-09T02:48:16Z</dcterms:created>
  <dcterms:modified xsi:type="dcterms:W3CDTF">2026-09-08T08:48:43Z</dcterms:modified>
</cp:coreProperties>
</file>