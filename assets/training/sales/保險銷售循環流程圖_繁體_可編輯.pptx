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e3fc35d5a045df" /><Relationship Type="http://schemas.openxmlformats.org/officeDocument/2006/relationships/extended-properties" Target="/docProps/app.xml" Id="Re94039b720714be6" /><Relationship Type="http://schemas.openxmlformats.org/officeDocument/2006/relationships/officeDocument" Target="/ppt/presentation.xml" Id="R2e75140018ff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d8f897e1b439e"/>
  </p:sldMasterIdLst>
  <p:notesMasterIdLst>
    <p:notesMasterId xmlns:r="http://schemas.openxmlformats.org/officeDocument/2006/relationships" r:id="R434e8c84288c43f9"/>
  </p:notesMasterIdLst>
  <p:sldIdLst>
    <p:sldId xmlns:r="http://schemas.openxmlformats.org/officeDocument/2006/relationships" id="256" r:id="R12797d293bbc47f1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8cf475f6d343f8" /><Relationship Type="http://schemas.openxmlformats.org/officeDocument/2006/relationships/slideMaster" Target="/ppt/slideMasters/slideMaster1.xml" Id="R339d8f897e1b439e" /><Relationship Type="http://schemas.openxmlformats.org/officeDocument/2006/relationships/notesMaster" Target="/ppt/notesMasters/notesMaster1.xml" Id="R434e8c84288c43f9" /><Relationship Type="http://schemas.openxmlformats.org/officeDocument/2006/relationships/presProps" Target="/ppt/presProps.xml" Id="R84041debfedd4921" /><Relationship Type="http://schemas.openxmlformats.org/officeDocument/2006/relationships/tableStyles" Target="/ppt/tableStyles.xml" Id="Rc7de1c4480234667" /><Relationship Type="http://schemas.openxmlformats.org/officeDocument/2006/relationships/slide" Target="/ppt/slides/slide1.xml" Id="R12797d293bbc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25ebffbeb4b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4d0160bde4415" /><Relationship Type="http://schemas.openxmlformats.org/officeDocument/2006/relationships/notesMaster" Target="/ppt/notesMasters/notesMaster1.xml" Id="R813114b97421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內容來源：《新人保險簽單 SOP 銷售循環優化簡報版.pptx》第2–9頁。七個步驟及關鍵動作由原簡報提煉，按用戶要求使用繁體中文。流程為01→02→03→04→05→06→07→01。保障以正式條款及批核結果為準。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791064cfc45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9af2973724cd3" /><Relationship Type="http://schemas.openxmlformats.org/officeDocument/2006/relationships/slideLayout" Target="/ppt/slideLayouts/slideLayout1.xml" Id="Re98a20288d554f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a20288d554f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349facf6542d5" /><Relationship Type="http://schemas.openxmlformats.org/officeDocument/2006/relationships/notesSlide" Target="/ppt/notesSlides/notesSlide1.xml" Id="Re93c85103f5845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76C7D3-1657-4CA7-AECD-8BD0F5D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CHOIX  內部培訓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FCDF4-D21B-4A2A-A15D-BD158E55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352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新人保險簽單 · 銷售循環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4F75D-8552-4DF9-86A7-3FFF534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352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8646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6460"/>
                </a:solidFill>
                <a:latin typeface="Heiti TC"/>
                <a:ea typeface="Heiti TC"/>
                <a:cs typeface="Heiti TC"/>
              </a:rPr>
              <a:t>以客戶需要為起點，按正式資料及程序提供服務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7CB5C-494A-4768-8ADC-4D3C6B1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90034-FF19-47A8-B2DB-CF393E2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2A2C0-1D50-4ED1-8484-84D4DC8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43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尋找客戶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2D5FF-B5A1-4CEA-A0DB-97497CE2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建立客戶來源與聯絡目標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F38D2-BDBF-437E-9BFB-685A1DD1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準備首次接觸，邀請交流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7DAF2-78E6-4823-956A-69E29A2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記錄結果並安排下一步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EB41B-BFAF-4891-8E6D-E190BB9F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9ECE3-9F9C-488A-AA57-AF5D5EA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47A4A-2A08-4766-A943-D8B4D21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43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接洽約見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85ABE-7E39-4E24-9C36-9109780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自然開場，確認溝通時間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AE4C8-8F86-4C64-86F0-55593FE2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破冰、自介、說明流程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39BB1-9F4B-4096-9266-AAD28139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76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了解基本情況並約定會面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889D2-6AA7-4AD5-B9EC-A49EB54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0BA56-FF00-47E3-AFC9-1300576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93B8C-ED39-48A6-9DC4-DC7375D0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43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會面架構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CCCF3-D7BA-4FAC-9ABA-63B81CE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說明會面目的與範圍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45F90-DAD2-4069-8E22-936B2ABB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傾聽並重述客戶重點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7CADC-05BF-4D7B-8477-7B593AC0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資料不足時安排再次會面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6F20A-EE92-40AF-BFDB-2200050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571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141E5-5F79-4719-AFD4-0AABDF9D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24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1D57A-14E8-4C37-BA52-47E3D2C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2743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需求分析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93805-68EC-4ECA-9ABB-51327130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390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了解客戶需求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87542-76E7-45D3-91F5-4948FFA9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33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確認預算、時機與決策限制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2CCBB-80DF-4164-84CB-5051091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076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釐清保障缺口及優先次序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95E99-A2D3-4385-901D-2D590DF3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000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DA7C9-AC8A-4A1E-8AAD-09DF3727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153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EE3630-904E-46D8-9023-0A539950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6172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方案說明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7928A-427D-4616-B1CC-7C132EF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819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回應需要，解釋保障及限制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E5849-75D5-45F9-8D00-690334B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162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使用最新已批准產品資料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C020E5-FA20-4026-95BF-B4EEA0BA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505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說明建議書資料與假設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41417-46D6-490A-A4EF-D4E8D09E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00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96AFDD-D97F-48D7-B6F0-3E158CBC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153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54C6E7-272D-4F39-8196-8DCC03B6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顧慮與成交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71048F-AD69-498D-B281-64D305F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819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完整聆聽並中性澄清問題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B7645B-22FF-4EB8-8657-ADB991D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62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確認充分理解及自願決定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8ED7D7-9606-4B08-B74C-14771637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505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待核實問題約定回覆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962414-CF74-4247-837D-1F6D282A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2C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FA3D4C-B5A5-4A25-BAAF-8730071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531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342C55-3A36-4868-B459-5534EFF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172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申請與售後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B9EA0F-D6A5-4426-B1C7-6E517EF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19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按清單核對申請及相關資料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80FB9B-D629-4D25-A659-0660F5F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628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客戶自行閱讀並如實填寫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CC05C5-3CA0-457D-B98C-AEFB29BB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05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03033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303033"/>
                </a:solidFill>
                <a:latin typeface="Heiti TC"/>
                <a:ea typeface="Heiti TC"/>
                <a:cs typeface="Heiti TC"/>
              </a:rPr>
              <a:t>完成交付、回訪及下次服務</a:t>
            </a:r>
          </a:p>
        </p:txBody>
      </p:sp>
      <p:cxnSp>
        <p:nvCxnSpPr>
          <p:cNvPr id="154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14750" y="3619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42F3D"/>
            </a:solidFill>
            <a:tailEnd type="triangle" w="med" len="med"/>
          </a:ln>
        </p:spPr>
      </p:cxnSp>
      <p:cxnSp>
        <p:nvCxnSpPr>
          <p:cNvPr id="155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239000" y="3619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42F3D"/>
            </a:solidFill>
            <a:tailEnd type="triangle" w="med" len="med"/>
          </a:ln>
        </p:spPr>
      </p:cxnSp>
      <p:cxnSp>
        <p:nvCxnSpPr>
          <p:cNvPr id="156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763250" y="3619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42F3D"/>
            </a:solidFill>
            <a:tailEnd type="triangle" w="med" len="med"/>
          </a:ln>
        </p:spPr>
      </p:cxnSp>
      <p:cxnSp>
        <p:nvCxnSpPr>
          <p:cNvPr id="157" name=""/>
          <p:cNvCxnSpPr>
            <a:stCxn xmlns:a="http://schemas.openxmlformats.org/drawingml/2006/main" id="2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2906375" y="4667250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42F3D"/>
            </a:solidFill>
            <a:tailEnd type="triangle" w="med" len="med"/>
          </a:ln>
        </p:spPr>
      </p:cxnSp>
      <p:cxnSp>
        <p:nvCxnSpPr>
          <p:cNvPr id="158" name=""/>
          <p:cNvCxnSpPr>
            <a:stCxn xmlns:a="http://schemas.openxmlformats.org/drawingml/2006/main" id="28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9001125" y="7048500"/>
            <a:ext cx="2524125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42F3D"/>
            </a:solidFill>
            <a:tailEnd type="triangle" w="med" len="med"/>
          </a:ln>
        </p:spPr>
      </p:cxnSp>
      <p:cxnSp>
        <p:nvCxnSpPr>
          <p:cNvPr id="159" name=""/>
          <p:cNvCxnSpPr>
            <a:stCxn xmlns:a="http://schemas.openxmlformats.org/drawingml/2006/main" id="34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3714750" y="7048500"/>
            <a:ext cx="2524125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42F3D"/>
            </a:solidFill>
            <a:tailEnd type="triangle" w="med" len="med"/>
          </a:ln>
        </p:spPr>
      </p:cxnSp>
      <p:cxnSp>
        <p:nvCxnSpPr>
          <p:cNvPr id="160" name=""/>
          <p:cNvCxnSpPr>
            <a:stCxn xmlns:a="http://schemas.openxmlformats.org/drawingml/2006/main" id="4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333625" y="4667250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AA8954"/>
            </a:solidFill>
            <a:tail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E754C2-BDB2-43C9-9333-6CF6374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967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售後服務延續下一輪客戶經營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70E753-DA15-48E3-906F-13CD4B52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14975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8646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686460"/>
                </a:solidFill>
                <a:latin typeface="Heiti TC"/>
                <a:ea typeface="Heiti TC"/>
                <a:cs typeface="Heiti TC"/>
              </a:rPr>
              <a:t>交付 · 回訪 · 檢視 · 下次服務安排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A9DE7A-A97D-4486-B21C-9900E6B0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3975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AA8954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AA8954"/>
                </a:solidFill>
                <a:latin typeface="Heiti TC"/>
                <a:ea typeface="Heiti TC"/>
                <a:cs typeface="Heiti TC"/>
              </a:rPr>
              <a:t>持續經營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DE8D95-B3DF-4B96-A795-D50E6D6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29650"/>
            <a:ext cx="1190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642F3D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642F3D"/>
                </a:solidFill>
                <a:latin typeface="Heiti TC"/>
                <a:ea typeface="Heiti TC"/>
                <a:cs typeface="Heiti TC"/>
              </a:rPr>
              <a:t>每一次接觸，都要約定下一步</a:t>
            </a:r>
          </a:p>
        </p:txBody>
      </p:sp>
    </p:spTree>
    <p:extLst>
      <p:ext uri="{BB962C8B-B14F-4D97-AF65-F5344CB8AC3E}">
        <p14:creationId xmlns:p14="http://schemas.microsoft.com/office/powerpoint/2010/main" val="269522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2026-09-21T03:17:00.2320000Z</dcterms:created>
  <dcterms:modified xsi:type="dcterms:W3CDTF">2026-09-21T03:17:00.2320000Z</dcterms:modified>
</coreProperties>
</file>